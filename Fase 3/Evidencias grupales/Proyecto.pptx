
<file path=[Content_Types].xml><?xml version="1.0" encoding="utf-8"?>
<Types xmlns="http://schemas.openxmlformats.org/package/2006/content-types">
  <Default ContentType="application/vnd.openxmlformats-officedocument.oleObject" Extension="bin"/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image/svg+xml" Extension="svg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presentationml.slide+xml" PartName="/ppt/slides/slide11.xml"/>
  <Override ContentType="application/vnd.openxmlformats-officedocument.presentationml.slide+xml" PartName="/ppt/slides/slide12.xml"/>
  <Override ContentType="application/vnd.openxmlformats-officedocument.presentationml.slide+xml" PartName="/ppt/slides/slide13.xml"/>
  <Override ContentType="application/vnd.openxmlformats-officedocument.presentationml.slide+xml" PartName="/ppt/slides/slide14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</p:sldIdLst>
  <p:sldSz cx="18288000" cy="10287000"/>
  <p:notesSz cx="6858000" cy="9144000"/>
  <p:embeddedFontLst>
    <p:embeddedFont>
      <p:font typeface="Poppins Bold" charset="1" panose="00000800000000000000"/>
      <p:regular r:id="rId20"/>
    </p:embeddedFont>
    <p:embeddedFont>
      <p:font typeface="Poppins" charset="1" panose="00000500000000000000"/>
      <p:regular r:id="rId21"/>
    </p:embeddedFont>
    <p:embeddedFont>
      <p:font typeface="Arimo" charset="1" panose="020B0604020202020204"/>
      <p:regular r:id="rId22"/>
    </p:embeddedFont>
    <p:embeddedFont>
      <p:font typeface="Open Sans Bold" charset="1" panose="020B0806030504020204"/>
      <p:regular r:id="rId23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slides/slide9.xml" Type="http://schemas.openxmlformats.org/officeDocument/2006/relationships/slide"/><Relationship Id="rId15" Target="slides/slide10.xml" Type="http://schemas.openxmlformats.org/officeDocument/2006/relationships/slide"/><Relationship Id="rId16" Target="slides/slide11.xml" Type="http://schemas.openxmlformats.org/officeDocument/2006/relationships/slide"/><Relationship Id="rId17" Target="slides/slide12.xml" Type="http://schemas.openxmlformats.org/officeDocument/2006/relationships/slide"/><Relationship Id="rId18" Target="slides/slide13.xml" Type="http://schemas.openxmlformats.org/officeDocument/2006/relationships/slide"/><Relationship Id="rId19" Target="slides/slide14.xml" Type="http://schemas.openxmlformats.org/officeDocument/2006/relationships/slide"/><Relationship Id="rId2" Target="presProps.xml" Type="http://schemas.openxmlformats.org/officeDocument/2006/relationships/presProps"/><Relationship Id="rId20" Target="fonts/font20.fntdata" Type="http://schemas.openxmlformats.org/officeDocument/2006/relationships/font"/><Relationship Id="rId21" Target="fonts/font21.fntdata" Type="http://schemas.openxmlformats.org/officeDocument/2006/relationships/font"/><Relationship Id="rId22" Target="fonts/font22.fntdata" Type="http://schemas.openxmlformats.org/officeDocument/2006/relationships/font"/><Relationship Id="rId23" Target="fonts/font23.fntdata" Type="http://schemas.openxmlformats.org/officeDocument/2006/relationships/font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Relationship Id="rId3" Target="../media/image2.jpe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.png" Type="http://schemas.openxmlformats.org/officeDocument/2006/relationships/image"/><Relationship Id="rId3" Target="../media/image4.sv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5.png" Type="http://schemas.openxmlformats.org/officeDocument/2006/relationships/image"/><Relationship Id="rId3" Target="../embeddings/oleObject1.bin" Type="http://schemas.openxmlformats.org/officeDocument/2006/relationships/oleObject"/></Relationships>
</file>

<file path=ppt/slides/_rels/slide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6.png" Type="http://schemas.openxmlformats.org/officeDocument/2006/relationships/image"/></Relationships>
</file>

<file path=ppt/slides/_rels/slide1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7.png" Type="http://schemas.openxmlformats.org/officeDocument/2006/relationships/image"/></Relationships>
</file>

<file path=ppt/slides/_rels/slide1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16.png" Type="http://schemas.openxmlformats.org/officeDocument/2006/relationships/image"/><Relationship Id="rId11" Target="../media/image17.png" Type="http://schemas.openxmlformats.org/officeDocument/2006/relationships/image"/><Relationship Id="rId12" Target="../media/image18.png" Type="http://schemas.openxmlformats.org/officeDocument/2006/relationships/image"/><Relationship Id="rId2" Target="../media/image8.png" Type="http://schemas.openxmlformats.org/officeDocument/2006/relationships/image"/><Relationship Id="rId3" Target="../media/image9.png" Type="http://schemas.openxmlformats.org/officeDocument/2006/relationships/image"/><Relationship Id="rId4" Target="../media/image10.png" Type="http://schemas.openxmlformats.org/officeDocument/2006/relationships/image"/><Relationship Id="rId5" Target="../media/image11.png" Type="http://schemas.openxmlformats.org/officeDocument/2006/relationships/image"/><Relationship Id="rId6" Target="../media/image12.png" Type="http://schemas.openxmlformats.org/officeDocument/2006/relationships/image"/><Relationship Id="rId7" Target="../media/image13.png" Type="http://schemas.openxmlformats.org/officeDocument/2006/relationships/image"/><Relationship Id="rId8" Target="../media/image14.png" Type="http://schemas.openxmlformats.org/officeDocument/2006/relationships/image"/><Relationship Id="rId9" Target="../media/image15.png" Type="http://schemas.openxmlformats.org/officeDocument/2006/relationships/image"/></Relationships>
</file>

<file path=ppt/slides/_rels/slide1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9.png" Type="http://schemas.openxmlformats.org/officeDocument/2006/relationships/image"/></Relationships>
</file>

<file path=ppt/slides/_rels/slide1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1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slide1.xml><?xml version="1.0" encoding="utf-8"?>
<p:sld xmlns:p="http://schemas.openxmlformats.org/presentationml/2006/main" xmlns:a="http://schemas.openxmlformats.org/drawingml/2006/main">
  <p:cSld>
    <p:bg>
      <p:bgPr>
        <a:solidFill>
          <a:srgbClr val="08105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3951473" y="-378926"/>
            <a:ext cx="1082326" cy="4970383"/>
            <a:chOff x="0" y="0"/>
            <a:chExt cx="285057" cy="1309072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85057" cy="1309072"/>
            </a:xfrm>
            <a:custGeom>
              <a:avLst/>
              <a:gdLst/>
              <a:ahLst/>
              <a:cxnLst/>
              <a:rect r="r" b="b" t="t" l="l"/>
              <a:pathLst>
                <a:path h="1309072" w="285057">
                  <a:moveTo>
                    <a:pt x="142528" y="0"/>
                  </a:moveTo>
                  <a:lnTo>
                    <a:pt x="142528" y="0"/>
                  </a:lnTo>
                  <a:cubicBezTo>
                    <a:pt x="221245" y="0"/>
                    <a:pt x="285057" y="63812"/>
                    <a:pt x="285057" y="142528"/>
                  </a:cubicBezTo>
                  <a:lnTo>
                    <a:pt x="285057" y="1166544"/>
                  </a:lnTo>
                  <a:cubicBezTo>
                    <a:pt x="285057" y="1204345"/>
                    <a:pt x="270041" y="1240597"/>
                    <a:pt x="243311" y="1267327"/>
                  </a:cubicBezTo>
                  <a:cubicBezTo>
                    <a:pt x="216582" y="1294056"/>
                    <a:pt x="180329" y="1309072"/>
                    <a:pt x="142528" y="1309072"/>
                  </a:cubicBezTo>
                  <a:lnTo>
                    <a:pt x="142528" y="1309072"/>
                  </a:lnTo>
                  <a:cubicBezTo>
                    <a:pt x="104728" y="1309072"/>
                    <a:pt x="68475" y="1294056"/>
                    <a:pt x="41746" y="1267327"/>
                  </a:cubicBezTo>
                  <a:cubicBezTo>
                    <a:pt x="15016" y="1240597"/>
                    <a:pt x="0" y="1204345"/>
                    <a:pt x="0" y="1166544"/>
                  </a:cubicBezTo>
                  <a:lnTo>
                    <a:pt x="0" y="142528"/>
                  </a:lnTo>
                  <a:cubicBezTo>
                    <a:pt x="0" y="104728"/>
                    <a:pt x="15016" y="68475"/>
                    <a:pt x="41746" y="41746"/>
                  </a:cubicBezTo>
                  <a:cubicBezTo>
                    <a:pt x="68475" y="15016"/>
                    <a:pt x="104728" y="0"/>
                    <a:pt x="142528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08105E">
                    <a:alpha val="100000"/>
                  </a:srgbClr>
                </a:gs>
                <a:gs pos="100000">
                  <a:srgbClr val="A7C362">
                    <a:alpha val="100000"/>
                  </a:srgbClr>
                </a:gs>
              </a:gsLst>
              <a:lin ang="5400000"/>
            </a:gradFill>
          </p:spPr>
        </p:sp>
        <p:sp>
          <p:nvSpPr>
            <p:cNvPr name="TextBox 4" id="4"/>
            <p:cNvSpPr txBox="true"/>
            <p:nvPr/>
          </p:nvSpPr>
          <p:spPr>
            <a:xfrm>
              <a:off x="0" y="-47625"/>
              <a:ext cx="285057" cy="135669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13608620" y="7861777"/>
            <a:ext cx="4850446" cy="4850446"/>
            <a:chOff x="0" y="0"/>
            <a:chExt cx="812800" cy="81280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A7C362"/>
            </a:solidFill>
          </p:spPr>
        </p:sp>
        <p:sp>
          <p:nvSpPr>
            <p:cNvPr name="TextBox 7" id="7"/>
            <p:cNvSpPr txBox="true"/>
            <p:nvPr/>
          </p:nvSpPr>
          <p:spPr>
            <a:xfrm>
              <a:off x="76200" y="28575"/>
              <a:ext cx="660400" cy="7080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TextBox 8" id="8"/>
          <p:cNvSpPr txBox="true"/>
          <p:nvPr/>
        </p:nvSpPr>
        <p:spPr>
          <a:xfrm rot="0">
            <a:off x="1891174" y="1715741"/>
            <a:ext cx="11056095" cy="245491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9039"/>
              </a:lnSpc>
            </a:pPr>
            <a:r>
              <a:rPr lang="en-US" sz="13599" b="true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Proyecto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1891174" y="3951577"/>
            <a:ext cx="7180203" cy="136906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0639"/>
              </a:lnSpc>
            </a:pPr>
            <a:r>
              <a:rPr lang="en-US" sz="7599" b="true">
                <a:solidFill>
                  <a:srgbClr val="A7C362"/>
                </a:solidFill>
                <a:latin typeface="Poppins Bold"/>
                <a:ea typeface="Poppins Bold"/>
                <a:cs typeface="Poppins Bold"/>
                <a:sym typeface="Poppins Bold"/>
              </a:rPr>
              <a:t>BlockIA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1891174" y="5349333"/>
            <a:ext cx="6026966" cy="6184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759"/>
              </a:lnSpc>
            </a:pPr>
            <a:r>
              <a:rPr lang="en-US" sz="3399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Presentación Capstone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1891174" y="7757002"/>
            <a:ext cx="2096126" cy="6184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759"/>
              </a:lnSpc>
            </a:pPr>
            <a:r>
              <a:rPr lang="en-US" sz="3399" b="true">
                <a:solidFill>
                  <a:srgbClr val="A7C362"/>
                </a:solidFill>
                <a:latin typeface="Poppins Bold"/>
                <a:ea typeface="Poppins Bold"/>
                <a:cs typeface="Poppins Bold"/>
                <a:sym typeface="Poppins Bold"/>
              </a:rPr>
              <a:t>Cliente: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1891174" y="8432642"/>
            <a:ext cx="6026966" cy="5168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060"/>
              </a:lnSpc>
            </a:pPr>
            <a:r>
              <a:rPr lang="en-US" sz="290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Condominio SPA</a:t>
            </a:r>
          </a:p>
        </p:txBody>
      </p:sp>
      <p:grpSp>
        <p:nvGrpSpPr>
          <p:cNvPr name="Group 13" id="13"/>
          <p:cNvGrpSpPr/>
          <p:nvPr/>
        </p:nvGrpSpPr>
        <p:grpSpPr>
          <a:xfrm rot="0">
            <a:off x="15492680" y="-378926"/>
            <a:ext cx="1082326" cy="3648049"/>
            <a:chOff x="0" y="0"/>
            <a:chExt cx="285057" cy="960803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285057" cy="960803"/>
            </a:xfrm>
            <a:custGeom>
              <a:avLst/>
              <a:gdLst/>
              <a:ahLst/>
              <a:cxnLst/>
              <a:rect r="r" b="b" t="t" l="l"/>
              <a:pathLst>
                <a:path h="960803" w="285057">
                  <a:moveTo>
                    <a:pt x="142528" y="0"/>
                  </a:moveTo>
                  <a:lnTo>
                    <a:pt x="142528" y="0"/>
                  </a:lnTo>
                  <a:cubicBezTo>
                    <a:pt x="221245" y="0"/>
                    <a:pt x="285057" y="63812"/>
                    <a:pt x="285057" y="142528"/>
                  </a:cubicBezTo>
                  <a:lnTo>
                    <a:pt x="285057" y="818274"/>
                  </a:lnTo>
                  <a:cubicBezTo>
                    <a:pt x="285057" y="856075"/>
                    <a:pt x="270041" y="892328"/>
                    <a:pt x="243311" y="919057"/>
                  </a:cubicBezTo>
                  <a:cubicBezTo>
                    <a:pt x="216582" y="945787"/>
                    <a:pt x="180329" y="960803"/>
                    <a:pt x="142528" y="960803"/>
                  </a:cubicBezTo>
                  <a:lnTo>
                    <a:pt x="142528" y="960803"/>
                  </a:lnTo>
                  <a:cubicBezTo>
                    <a:pt x="104728" y="960803"/>
                    <a:pt x="68475" y="945787"/>
                    <a:pt x="41746" y="919057"/>
                  </a:cubicBezTo>
                  <a:cubicBezTo>
                    <a:pt x="15016" y="892328"/>
                    <a:pt x="0" y="856075"/>
                    <a:pt x="0" y="818274"/>
                  </a:cubicBezTo>
                  <a:lnTo>
                    <a:pt x="0" y="142528"/>
                  </a:lnTo>
                  <a:cubicBezTo>
                    <a:pt x="0" y="104728"/>
                    <a:pt x="15016" y="68475"/>
                    <a:pt x="41746" y="41746"/>
                  </a:cubicBezTo>
                  <a:cubicBezTo>
                    <a:pt x="68475" y="15016"/>
                    <a:pt x="104728" y="0"/>
                    <a:pt x="142528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08105E">
                    <a:alpha val="100000"/>
                  </a:srgbClr>
                </a:gs>
                <a:gs pos="100000">
                  <a:srgbClr val="A7C362">
                    <a:alpha val="100000"/>
                  </a:srgbClr>
                </a:gs>
              </a:gsLst>
              <a:lin ang="5400000"/>
            </a:gradFill>
          </p:spPr>
        </p:sp>
        <p:sp>
          <p:nvSpPr>
            <p:cNvPr name="TextBox 15" id="15"/>
            <p:cNvSpPr txBox="true"/>
            <p:nvPr/>
          </p:nvSpPr>
          <p:spPr>
            <a:xfrm>
              <a:off x="0" y="-47625"/>
              <a:ext cx="285057" cy="100842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TextBox 16" id="16"/>
          <p:cNvSpPr txBox="true"/>
          <p:nvPr/>
        </p:nvSpPr>
        <p:spPr>
          <a:xfrm rot="0">
            <a:off x="10266075" y="1340324"/>
            <a:ext cx="6026966" cy="6184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4759"/>
              </a:lnSpc>
            </a:pPr>
            <a:r>
              <a:rPr lang="en-US" sz="3399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blockia.cl</a:t>
            </a:r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8105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-5400000">
            <a:off x="1562590" y="6400540"/>
            <a:ext cx="1082326" cy="4970383"/>
            <a:chOff x="0" y="0"/>
            <a:chExt cx="285057" cy="1309072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85057" cy="1309072"/>
            </a:xfrm>
            <a:custGeom>
              <a:avLst/>
              <a:gdLst/>
              <a:ahLst/>
              <a:cxnLst/>
              <a:rect r="r" b="b" t="t" l="l"/>
              <a:pathLst>
                <a:path h="1309072" w="285057">
                  <a:moveTo>
                    <a:pt x="142528" y="0"/>
                  </a:moveTo>
                  <a:lnTo>
                    <a:pt x="142528" y="0"/>
                  </a:lnTo>
                  <a:cubicBezTo>
                    <a:pt x="221245" y="0"/>
                    <a:pt x="285057" y="63812"/>
                    <a:pt x="285057" y="142528"/>
                  </a:cubicBezTo>
                  <a:lnTo>
                    <a:pt x="285057" y="1166544"/>
                  </a:lnTo>
                  <a:cubicBezTo>
                    <a:pt x="285057" y="1204345"/>
                    <a:pt x="270041" y="1240597"/>
                    <a:pt x="243311" y="1267327"/>
                  </a:cubicBezTo>
                  <a:cubicBezTo>
                    <a:pt x="216582" y="1294056"/>
                    <a:pt x="180329" y="1309072"/>
                    <a:pt x="142528" y="1309072"/>
                  </a:cubicBezTo>
                  <a:lnTo>
                    <a:pt x="142528" y="1309072"/>
                  </a:lnTo>
                  <a:cubicBezTo>
                    <a:pt x="104728" y="1309072"/>
                    <a:pt x="68475" y="1294056"/>
                    <a:pt x="41746" y="1267327"/>
                  </a:cubicBezTo>
                  <a:cubicBezTo>
                    <a:pt x="15016" y="1240597"/>
                    <a:pt x="0" y="1204345"/>
                    <a:pt x="0" y="1166544"/>
                  </a:cubicBezTo>
                  <a:lnTo>
                    <a:pt x="0" y="142528"/>
                  </a:lnTo>
                  <a:cubicBezTo>
                    <a:pt x="0" y="104728"/>
                    <a:pt x="15016" y="68475"/>
                    <a:pt x="41746" y="41746"/>
                  </a:cubicBezTo>
                  <a:cubicBezTo>
                    <a:pt x="68475" y="15016"/>
                    <a:pt x="104728" y="0"/>
                    <a:pt x="142528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08105E">
                    <a:alpha val="100000"/>
                  </a:srgbClr>
                </a:gs>
                <a:gs pos="100000">
                  <a:srgbClr val="A7C362">
                    <a:alpha val="100000"/>
                  </a:srgbClr>
                </a:gs>
              </a:gsLst>
              <a:lin ang="5400000"/>
            </a:gradFill>
          </p:spPr>
        </p:sp>
        <p:sp>
          <p:nvSpPr>
            <p:cNvPr name="TextBox 4" id="4"/>
            <p:cNvSpPr txBox="true"/>
            <p:nvPr/>
          </p:nvSpPr>
          <p:spPr>
            <a:xfrm>
              <a:off x="0" y="-47625"/>
              <a:ext cx="285057" cy="135669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-5400000">
            <a:off x="901423" y="5520500"/>
            <a:ext cx="1082326" cy="3648049"/>
            <a:chOff x="0" y="0"/>
            <a:chExt cx="285057" cy="960803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285057" cy="960803"/>
            </a:xfrm>
            <a:custGeom>
              <a:avLst/>
              <a:gdLst/>
              <a:ahLst/>
              <a:cxnLst/>
              <a:rect r="r" b="b" t="t" l="l"/>
              <a:pathLst>
                <a:path h="960803" w="285057">
                  <a:moveTo>
                    <a:pt x="142528" y="0"/>
                  </a:moveTo>
                  <a:lnTo>
                    <a:pt x="142528" y="0"/>
                  </a:lnTo>
                  <a:cubicBezTo>
                    <a:pt x="221245" y="0"/>
                    <a:pt x="285057" y="63812"/>
                    <a:pt x="285057" y="142528"/>
                  </a:cubicBezTo>
                  <a:lnTo>
                    <a:pt x="285057" y="818274"/>
                  </a:lnTo>
                  <a:cubicBezTo>
                    <a:pt x="285057" y="856075"/>
                    <a:pt x="270041" y="892328"/>
                    <a:pt x="243311" y="919057"/>
                  </a:cubicBezTo>
                  <a:cubicBezTo>
                    <a:pt x="216582" y="945787"/>
                    <a:pt x="180329" y="960803"/>
                    <a:pt x="142528" y="960803"/>
                  </a:cubicBezTo>
                  <a:lnTo>
                    <a:pt x="142528" y="960803"/>
                  </a:lnTo>
                  <a:cubicBezTo>
                    <a:pt x="104728" y="960803"/>
                    <a:pt x="68475" y="945787"/>
                    <a:pt x="41746" y="919057"/>
                  </a:cubicBezTo>
                  <a:cubicBezTo>
                    <a:pt x="15016" y="892328"/>
                    <a:pt x="0" y="856075"/>
                    <a:pt x="0" y="818274"/>
                  </a:cubicBezTo>
                  <a:lnTo>
                    <a:pt x="0" y="142528"/>
                  </a:lnTo>
                  <a:cubicBezTo>
                    <a:pt x="0" y="104728"/>
                    <a:pt x="15016" y="68475"/>
                    <a:pt x="41746" y="41746"/>
                  </a:cubicBezTo>
                  <a:cubicBezTo>
                    <a:pt x="68475" y="15016"/>
                    <a:pt x="104728" y="0"/>
                    <a:pt x="142528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08105E">
                    <a:alpha val="100000"/>
                  </a:srgbClr>
                </a:gs>
                <a:gs pos="100000">
                  <a:srgbClr val="A7C362">
                    <a:alpha val="100000"/>
                  </a:srgbClr>
                </a:gs>
              </a:gsLst>
              <a:lin ang="5400000"/>
            </a:gradFill>
          </p:spPr>
        </p:sp>
        <p:sp>
          <p:nvSpPr>
            <p:cNvPr name="TextBox 7" id="7"/>
            <p:cNvSpPr txBox="true"/>
            <p:nvPr/>
          </p:nvSpPr>
          <p:spPr>
            <a:xfrm>
              <a:off x="0" y="-47625"/>
              <a:ext cx="285057" cy="100842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8" id="8"/>
          <p:cNvGrpSpPr>
            <a:grpSpLocks noChangeAspect="true"/>
          </p:cNvGrpSpPr>
          <p:nvPr/>
        </p:nvGrpSpPr>
        <p:grpSpPr>
          <a:xfrm rot="0">
            <a:off x="7361347" y="7344524"/>
            <a:ext cx="1782653" cy="1782653"/>
            <a:chOff x="0" y="0"/>
            <a:chExt cx="8909050" cy="890905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-10398" y="9480"/>
              <a:ext cx="8929847" cy="8890089"/>
            </a:xfrm>
            <a:custGeom>
              <a:avLst/>
              <a:gdLst/>
              <a:ahLst/>
              <a:cxnLst/>
              <a:rect r="r" b="b" t="t" l="l"/>
              <a:pathLst>
                <a:path h="8890089" w="8929847">
                  <a:moveTo>
                    <a:pt x="4464923" y="45"/>
                  </a:moveTo>
                  <a:cubicBezTo>
                    <a:pt x="2872142" y="-7078"/>
                    <a:pt x="1397294" y="838573"/>
                    <a:pt x="598840" y="2216787"/>
                  </a:cubicBezTo>
                  <a:cubicBezTo>
                    <a:pt x="-199614" y="3595001"/>
                    <a:pt x="-199614" y="5295089"/>
                    <a:pt x="598840" y="6673304"/>
                  </a:cubicBezTo>
                  <a:cubicBezTo>
                    <a:pt x="1397294" y="8051517"/>
                    <a:pt x="2872142" y="8897168"/>
                    <a:pt x="4464923" y="8890045"/>
                  </a:cubicBezTo>
                  <a:cubicBezTo>
                    <a:pt x="6057704" y="8897168"/>
                    <a:pt x="7532552" y="8051517"/>
                    <a:pt x="8331006" y="6673304"/>
                  </a:cubicBezTo>
                  <a:cubicBezTo>
                    <a:pt x="9129460" y="5295089"/>
                    <a:pt x="9129460" y="3595001"/>
                    <a:pt x="8331006" y="2216787"/>
                  </a:cubicBezTo>
                  <a:cubicBezTo>
                    <a:pt x="7532552" y="838573"/>
                    <a:pt x="6057704" y="-7078"/>
                    <a:pt x="4464923" y="45"/>
                  </a:cubicBezTo>
                  <a:close/>
                </a:path>
              </a:pathLst>
            </a:custGeom>
            <a:solidFill>
              <a:srgbClr val="A7C362"/>
            </a:solidFill>
          </p:spPr>
        </p:sp>
        <p:sp>
          <p:nvSpPr>
            <p:cNvPr name="Freeform 10" id="10"/>
            <p:cNvSpPr/>
            <p:nvPr/>
          </p:nvSpPr>
          <p:spPr>
            <a:xfrm flipH="false" flipV="false" rot="0">
              <a:off x="251757" y="270468"/>
              <a:ext cx="8405537" cy="8368114"/>
            </a:xfrm>
            <a:custGeom>
              <a:avLst/>
              <a:gdLst/>
              <a:ahLst/>
              <a:cxnLst/>
              <a:rect r="r" b="b" t="t" l="l"/>
              <a:pathLst>
                <a:path h="8368114" w="8405537">
                  <a:moveTo>
                    <a:pt x="4202768" y="42"/>
                  </a:moveTo>
                  <a:cubicBezTo>
                    <a:pt x="2703506" y="-6663"/>
                    <a:pt x="1315253" y="789336"/>
                    <a:pt x="563679" y="2086629"/>
                  </a:cubicBezTo>
                  <a:cubicBezTo>
                    <a:pt x="-187894" y="3383923"/>
                    <a:pt x="-187894" y="4984191"/>
                    <a:pt x="563679" y="6281485"/>
                  </a:cubicBezTo>
                  <a:cubicBezTo>
                    <a:pt x="1315253" y="7578778"/>
                    <a:pt x="2703506" y="8374777"/>
                    <a:pt x="4202768" y="8368072"/>
                  </a:cubicBezTo>
                  <a:cubicBezTo>
                    <a:pt x="5702030" y="8374777"/>
                    <a:pt x="7090283" y="7578778"/>
                    <a:pt x="7841857" y="6281485"/>
                  </a:cubicBezTo>
                  <a:cubicBezTo>
                    <a:pt x="8593429" y="4984191"/>
                    <a:pt x="8593429" y="3383923"/>
                    <a:pt x="7841857" y="2086629"/>
                  </a:cubicBezTo>
                  <a:cubicBezTo>
                    <a:pt x="7090283" y="789336"/>
                    <a:pt x="5702030" y="-6663"/>
                    <a:pt x="4202768" y="42"/>
                  </a:cubicBezTo>
                  <a:close/>
                </a:path>
              </a:pathLst>
            </a:custGeom>
            <a:blipFill>
              <a:blip r:embed="rId2"/>
              <a:stretch>
                <a:fillRect l="223" t="0" r="223" b="-23604"/>
              </a:stretch>
            </a:blipFill>
          </p:spPr>
        </p:sp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8909050" cy="8909050"/>
            </a:xfrm>
            <a:custGeom>
              <a:avLst/>
              <a:gdLst/>
              <a:ahLst/>
              <a:cxnLst/>
              <a:rect r="r" b="b" t="t" l="l"/>
              <a:pathLst>
                <a:path h="8909050" w="8909050">
                  <a:moveTo>
                    <a:pt x="4454525" y="8909050"/>
                  </a:moveTo>
                  <a:cubicBezTo>
                    <a:pt x="3264662" y="8909050"/>
                    <a:pt x="2146046" y="8445500"/>
                    <a:pt x="1304544" y="7603744"/>
                  </a:cubicBezTo>
                  <a:cubicBezTo>
                    <a:pt x="895477" y="7194550"/>
                    <a:pt x="574294" y="6718173"/>
                    <a:pt x="350012" y="6187694"/>
                  </a:cubicBezTo>
                  <a:cubicBezTo>
                    <a:pt x="117729" y="5638673"/>
                    <a:pt x="0" y="5055489"/>
                    <a:pt x="0" y="4454525"/>
                  </a:cubicBezTo>
                  <a:cubicBezTo>
                    <a:pt x="0" y="3854704"/>
                    <a:pt x="117475" y="3272282"/>
                    <a:pt x="349377" y="2723642"/>
                  </a:cubicBezTo>
                  <a:cubicBezTo>
                    <a:pt x="573405" y="2193163"/>
                    <a:pt x="894207" y="1716786"/>
                    <a:pt x="1302766" y="1307338"/>
                  </a:cubicBezTo>
                  <a:cubicBezTo>
                    <a:pt x="2144141" y="464312"/>
                    <a:pt x="3263519" y="0"/>
                    <a:pt x="4454525" y="0"/>
                  </a:cubicBezTo>
                  <a:cubicBezTo>
                    <a:pt x="5055362" y="0"/>
                    <a:pt x="5638419" y="117729"/>
                    <a:pt x="6187440" y="350012"/>
                  </a:cubicBezTo>
                  <a:cubicBezTo>
                    <a:pt x="6717792" y="574294"/>
                    <a:pt x="7194296" y="895477"/>
                    <a:pt x="7603490" y="1304544"/>
                  </a:cubicBezTo>
                  <a:cubicBezTo>
                    <a:pt x="8445373" y="2146046"/>
                    <a:pt x="8909050" y="3264789"/>
                    <a:pt x="8909050" y="4454652"/>
                  </a:cubicBezTo>
                  <a:cubicBezTo>
                    <a:pt x="8909050" y="5644769"/>
                    <a:pt x="8445246" y="6763766"/>
                    <a:pt x="7602982" y="7605268"/>
                  </a:cubicBezTo>
                  <a:cubicBezTo>
                    <a:pt x="7193789" y="8014208"/>
                    <a:pt x="6717285" y="8335138"/>
                    <a:pt x="6186932" y="8559419"/>
                  </a:cubicBezTo>
                  <a:cubicBezTo>
                    <a:pt x="5637911" y="8791321"/>
                    <a:pt x="5055108" y="8909050"/>
                    <a:pt x="4454525" y="8909050"/>
                  </a:cubicBezTo>
                  <a:close/>
                  <a:moveTo>
                    <a:pt x="4454525" y="19050"/>
                  </a:moveTo>
                  <a:cubicBezTo>
                    <a:pt x="3268599" y="19050"/>
                    <a:pt x="2154047" y="481330"/>
                    <a:pt x="1316228" y="1320800"/>
                  </a:cubicBezTo>
                  <a:cubicBezTo>
                    <a:pt x="909447" y="1728343"/>
                    <a:pt x="590042" y="2202815"/>
                    <a:pt x="366903" y="2731008"/>
                  </a:cubicBezTo>
                  <a:cubicBezTo>
                    <a:pt x="136017" y="3277362"/>
                    <a:pt x="19050" y="3857244"/>
                    <a:pt x="19050" y="4454525"/>
                  </a:cubicBezTo>
                  <a:cubicBezTo>
                    <a:pt x="19050" y="5052949"/>
                    <a:pt x="136271" y="5633593"/>
                    <a:pt x="367538" y="6180328"/>
                  </a:cubicBezTo>
                  <a:cubicBezTo>
                    <a:pt x="590931" y="6708522"/>
                    <a:pt x="910717" y="7182866"/>
                    <a:pt x="1318006" y="7590282"/>
                  </a:cubicBezTo>
                  <a:cubicBezTo>
                    <a:pt x="2155825" y="8428355"/>
                    <a:pt x="3269742" y="8890000"/>
                    <a:pt x="4454525" y="8890000"/>
                  </a:cubicBezTo>
                  <a:cubicBezTo>
                    <a:pt x="5052568" y="8890000"/>
                    <a:pt x="5632958" y="8772779"/>
                    <a:pt x="6179439" y="8541766"/>
                  </a:cubicBezTo>
                  <a:cubicBezTo>
                    <a:pt x="6707632" y="8318500"/>
                    <a:pt x="7181977" y="7998841"/>
                    <a:pt x="7589520" y="7591679"/>
                  </a:cubicBezTo>
                  <a:cubicBezTo>
                    <a:pt x="8428101" y="6753733"/>
                    <a:pt x="8890000" y="5639562"/>
                    <a:pt x="8890000" y="4454525"/>
                  </a:cubicBezTo>
                  <a:cubicBezTo>
                    <a:pt x="8890000" y="3269742"/>
                    <a:pt x="8428355" y="2155825"/>
                    <a:pt x="7590028" y="1317879"/>
                  </a:cubicBezTo>
                  <a:cubicBezTo>
                    <a:pt x="7182612" y="910590"/>
                    <a:pt x="6708140" y="590931"/>
                    <a:pt x="6180074" y="367538"/>
                  </a:cubicBezTo>
                  <a:cubicBezTo>
                    <a:pt x="5633339" y="136271"/>
                    <a:pt x="5052822" y="19050"/>
                    <a:pt x="4454525" y="19050"/>
                  </a:cubicBezTo>
                  <a:close/>
                  <a:moveTo>
                    <a:pt x="4454525" y="8648065"/>
                  </a:moveTo>
                  <a:cubicBezTo>
                    <a:pt x="3334385" y="8648065"/>
                    <a:pt x="2281301" y="8211693"/>
                    <a:pt x="1489075" y="7419213"/>
                  </a:cubicBezTo>
                  <a:cubicBezTo>
                    <a:pt x="697103" y="6626987"/>
                    <a:pt x="260985" y="5574157"/>
                    <a:pt x="260985" y="4454525"/>
                  </a:cubicBezTo>
                  <a:cubicBezTo>
                    <a:pt x="260985" y="3889756"/>
                    <a:pt x="371602" y="3341497"/>
                    <a:pt x="589788" y="2824988"/>
                  </a:cubicBezTo>
                  <a:cubicBezTo>
                    <a:pt x="800735" y="2325624"/>
                    <a:pt x="1102741" y="1877060"/>
                    <a:pt x="1487297" y="1491742"/>
                  </a:cubicBezTo>
                  <a:cubicBezTo>
                    <a:pt x="2279396" y="698119"/>
                    <a:pt x="3333242" y="260985"/>
                    <a:pt x="4454398" y="260985"/>
                  </a:cubicBezTo>
                  <a:cubicBezTo>
                    <a:pt x="5573776" y="260985"/>
                    <a:pt x="6626606" y="697103"/>
                    <a:pt x="7418832" y="1488948"/>
                  </a:cubicBezTo>
                  <a:cubicBezTo>
                    <a:pt x="8211438" y="2281174"/>
                    <a:pt x="8647937" y="3334385"/>
                    <a:pt x="8647937" y="4454398"/>
                  </a:cubicBezTo>
                  <a:cubicBezTo>
                    <a:pt x="8647937" y="5574792"/>
                    <a:pt x="8211311" y="6628130"/>
                    <a:pt x="7418450" y="7420356"/>
                  </a:cubicBezTo>
                  <a:cubicBezTo>
                    <a:pt x="6626225" y="8212074"/>
                    <a:pt x="5573522" y="8648065"/>
                    <a:pt x="4454525" y="8648065"/>
                  </a:cubicBezTo>
                  <a:close/>
                  <a:moveTo>
                    <a:pt x="4454525" y="280035"/>
                  </a:moveTo>
                  <a:cubicBezTo>
                    <a:pt x="3338449" y="280035"/>
                    <a:pt x="2289429" y="715137"/>
                    <a:pt x="1500886" y="1505204"/>
                  </a:cubicBezTo>
                  <a:cubicBezTo>
                    <a:pt x="713613" y="2294001"/>
                    <a:pt x="280035" y="3341370"/>
                    <a:pt x="280035" y="4454525"/>
                  </a:cubicBezTo>
                  <a:cubicBezTo>
                    <a:pt x="280035" y="5569077"/>
                    <a:pt x="714248" y="6617081"/>
                    <a:pt x="1502537" y="7405751"/>
                  </a:cubicBezTo>
                  <a:cubicBezTo>
                    <a:pt x="2291080" y="8194548"/>
                    <a:pt x="3339465" y="8629015"/>
                    <a:pt x="4454525" y="8629015"/>
                  </a:cubicBezTo>
                  <a:cubicBezTo>
                    <a:pt x="5568442" y="8629015"/>
                    <a:pt x="6616319" y="8195056"/>
                    <a:pt x="7405116" y="7407021"/>
                  </a:cubicBezTo>
                  <a:cubicBezTo>
                    <a:pt x="8194422" y="6618477"/>
                    <a:pt x="8629015" y="5569839"/>
                    <a:pt x="8629015" y="4454525"/>
                  </a:cubicBezTo>
                  <a:cubicBezTo>
                    <a:pt x="8629015" y="3339465"/>
                    <a:pt x="8194548" y="2291080"/>
                    <a:pt x="7405497" y="1502537"/>
                  </a:cubicBezTo>
                  <a:cubicBezTo>
                    <a:pt x="6616827" y="714121"/>
                    <a:pt x="5568823" y="280035"/>
                    <a:pt x="4454525" y="280035"/>
                  </a:cubicBezTo>
                  <a:close/>
                </a:path>
              </a:pathLst>
            </a:custGeom>
            <a:solidFill>
              <a:srgbClr val="353A6A"/>
            </a:solidFill>
          </p:spPr>
        </p:sp>
      </p:grpSp>
      <p:grpSp>
        <p:nvGrpSpPr>
          <p:cNvPr name="Group 12" id="12"/>
          <p:cNvGrpSpPr>
            <a:grpSpLocks noChangeAspect="true"/>
          </p:cNvGrpSpPr>
          <p:nvPr/>
        </p:nvGrpSpPr>
        <p:grpSpPr>
          <a:xfrm rot="0">
            <a:off x="7309507" y="4118971"/>
            <a:ext cx="1834493" cy="1834493"/>
            <a:chOff x="0" y="0"/>
            <a:chExt cx="8909050" cy="8909050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-10398" y="9480"/>
              <a:ext cx="8929847" cy="8890089"/>
            </a:xfrm>
            <a:custGeom>
              <a:avLst/>
              <a:gdLst/>
              <a:ahLst/>
              <a:cxnLst/>
              <a:rect r="r" b="b" t="t" l="l"/>
              <a:pathLst>
                <a:path h="8890089" w="8929847">
                  <a:moveTo>
                    <a:pt x="4464923" y="45"/>
                  </a:moveTo>
                  <a:cubicBezTo>
                    <a:pt x="2872142" y="-7078"/>
                    <a:pt x="1397294" y="838573"/>
                    <a:pt x="598840" y="2216787"/>
                  </a:cubicBezTo>
                  <a:cubicBezTo>
                    <a:pt x="-199614" y="3595001"/>
                    <a:pt x="-199614" y="5295089"/>
                    <a:pt x="598840" y="6673304"/>
                  </a:cubicBezTo>
                  <a:cubicBezTo>
                    <a:pt x="1397294" y="8051517"/>
                    <a:pt x="2872142" y="8897168"/>
                    <a:pt x="4464923" y="8890045"/>
                  </a:cubicBezTo>
                  <a:cubicBezTo>
                    <a:pt x="6057704" y="8897168"/>
                    <a:pt x="7532552" y="8051517"/>
                    <a:pt x="8331006" y="6673304"/>
                  </a:cubicBezTo>
                  <a:cubicBezTo>
                    <a:pt x="9129460" y="5295089"/>
                    <a:pt x="9129460" y="3595001"/>
                    <a:pt x="8331006" y="2216787"/>
                  </a:cubicBezTo>
                  <a:cubicBezTo>
                    <a:pt x="7532552" y="838573"/>
                    <a:pt x="6057704" y="-7078"/>
                    <a:pt x="4464923" y="45"/>
                  </a:cubicBezTo>
                  <a:close/>
                </a:path>
              </a:pathLst>
            </a:custGeom>
            <a:solidFill>
              <a:srgbClr val="353A6A"/>
            </a:solidFill>
          </p:spPr>
        </p:sp>
        <p:sp>
          <p:nvSpPr>
            <p:cNvPr name="Freeform 14" id="14"/>
            <p:cNvSpPr/>
            <p:nvPr/>
          </p:nvSpPr>
          <p:spPr>
            <a:xfrm flipH="false" flipV="false" rot="0">
              <a:off x="251757" y="270468"/>
              <a:ext cx="8405537" cy="8368114"/>
            </a:xfrm>
            <a:custGeom>
              <a:avLst/>
              <a:gdLst/>
              <a:ahLst/>
              <a:cxnLst/>
              <a:rect r="r" b="b" t="t" l="l"/>
              <a:pathLst>
                <a:path h="8368114" w="8405537">
                  <a:moveTo>
                    <a:pt x="4202768" y="42"/>
                  </a:moveTo>
                  <a:cubicBezTo>
                    <a:pt x="2703506" y="-6663"/>
                    <a:pt x="1315253" y="789336"/>
                    <a:pt x="563679" y="2086629"/>
                  </a:cubicBezTo>
                  <a:cubicBezTo>
                    <a:pt x="-187894" y="3383923"/>
                    <a:pt x="-187894" y="4984191"/>
                    <a:pt x="563679" y="6281485"/>
                  </a:cubicBezTo>
                  <a:cubicBezTo>
                    <a:pt x="1315253" y="7578778"/>
                    <a:pt x="2703506" y="8374777"/>
                    <a:pt x="4202768" y="8368072"/>
                  </a:cubicBezTo>
                  <a:cubicBezTo>
                    <a:pt x="5702030" y="8374777"/>
                    <a:pt x="7090283" y="7578778"/>
                    <a:pt x="7841857" y="6281485"/>
                  </a:cubicBezTo>
                  <a:cubicBezTo>
                    <a:pt x="8593429" y="4984191"/>
                    <a:pt x="8593429" y="3383923"/>
                    <a:pt x="7841857" y="2086629"/>
                  </a:cubicBezTo>
                  <a:cubicBezTo>
                    <a:pt x="7090283" y="789336"/>
                    <a:pt x="5702030" y="-6663"/>
                    <a:pt x="4202768" y="42"/>
                  </a:cubicBezTo>
                  <a:close/>
                </a:path>
              </a:pathLst>
            </a:custGeom>
            <a:blipFill>
              <a:blip r:embed="rId3"/>
              <a:stretch>
                <a:fillRect l="223" t="-16665" r="223" b="-16665"/>
              </a:stretch>
            </a:blipFill>
          </p:spPr>
        </p:sp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8909050" cy="8909050"/>
            </a:xfrm>
            <a:custGeom>
              <a:avLst/>
              <a:gdLst/>
              <a:ahLst/>
              <a:cxnLst/>
              <a:rect r="r" b="b" t="t" l="l"/>
              <a:pathLst>
                <a:path h="8909050" w="8909050">
                  <a:moveTo>
                    <a:pt x="4454525" y="8909050"/>
                  </a:moveTo>
                  <a:cubicBezTo>
                    <a:pt x="3264662" y="8909050"/>
                    <a:pt x="2146046" y="8445500"/>
                    <a:pt x="1304544" y="7603744"/>
                  </a:cubicBezTo>
                  <a:cubicBezTo>
                    <a:pt x="895477" y="7194550"/>
                    <a:pt x="574294" y="6718173"/>
                    <a:pt x="350012" y="6187694"/>
                  </a:cubicBezTo>
                  <a:cubicBezTo>
                    <a:pt x="117729" y="5638673"/>
                    <a:pt x="0" y="5055489"/>
                    <a:pt x="0" y="4454525"/>
                  </a:cubicBezTo>
                  <a:cubicBezTo>
                    <a:pt x="0" y="3854704"/>
                    <a:pt x="117475" y="3272282"/>
                    <a:pt x="349377" y="2723642"/>
                  </a:cubicBezTo>
                  <a:cubicBezTo>
                    <a:pt x="573405" y="2193163"/>
                    <a:pt x="894207" y="1716786"/>
                    <a:pt x="1302766" y="1307338"/>
                  </a:cubicBezTo>
                  <a:cubicBezTo>
                    <a:pt x="2144141" y="464312"/>
                    <a:pt x="3263519" y="0"/>
                    <a:pt x="4454525" y="0"/>
                  </a:cubicBezTo>
                  <a:cubicBezTo>
                    <a:pt x="5055362" y="0"/>
                    <a:pt x="5638419" y="117729"/>
                    <a:pt x="6187440" y="350012"/>
                  </a:cubicBezTo>
                  <a:cubicBezTo>
                    <a:pt x="6717792" y="574294"/>
                    <a:pt x="7194296" y="895477"/>
                    <a:pt x="7603490" y="1304544"/>
                  </a:cubicBezTo>
                  <a:cubicBezTo>
                    <a:pt x="8445373" y="2146046"/>
                    <a:pt x="8909050" y="3264789"/>
                    <a:pt x="8909050" y="4454652"/>
                  </a:cubicBezTo>
                  <a:cubicBezTo>
                    <a:pt x="8909050" y="5644769"/>
                    <a:pt x="8445246" y="6763766"/>
                    <a:pt x="7602982" y="7605268"/>
                  </a:cubicBezTo>
                  <a:cubicBezTo>
                    <a:pt x="7193789" y="8014208"/>
                    <a:pt x="6717285" y="8335138"/>
                    <a:pt x="6186932" y="8559419"/>
                  </a:cubicBezTo>
                  <a:cubicBezTo>
                    <a:pt x="5637911" y="8791321"/>
                    <a:pt x="5055108" y="8909050"/>
                    <a:pt x="4454525" y="8909050"/>
                  </a:cubicBezTo>
                  <a:close/>
                  <a:moveTo>
                    <a:pt x="4454525" y="19050"/>
                  </a:moveTo>
                  <a:cubicBezTo>
                    <a:pt x="3268599" y="19050"/>
                    <a:pt x="2154047" y="481330"/>
                    <a:pt x="1316228" y="1320800"/>
                  </a:cubicBezTo>
                  <a:cubicBezTo>
                    <a:pt x="909447" y="1728343"/>
                    <a:pt x="590042" y="2202815"/>
                    <a:pt x="366903" y="2731008"/>
                  </a:cubicBezTo>
                  <a:cubicBezTo>
                    <a:pt x="136017" y="3277362"/>
                    <a:pt x="19050" y="3857244"/>
                    <a:pt x="19050" y="4454525"/>
                  </a:cubicBezTo>
                  <a:cubicBezTo>
                    <a:pt x="19050" y="5052949"/>
                    <a:pt x="136271" y="5633593"/>
                    <a:pt x="367538" y="6180328"/>
                  </a:cubicBezTo>
                  <a:cubicBezTo>
                    <a:pt x="590931" y="6708522"/>
                    <a:pt x="910717" y="7182866"/>
                    <a:pt x="1318006" y="7590282"/>
                  </a:cubicBezTo>
                  <a:cubicBezTo>
                    <a:pt x="2155825" y="8428355"/>
                    <a:pt x="3269742" y="8890000"/>
                    <a:pt x="4454525" y="8890000"/>
                  </a:cubicBezTo>
                  <a:cubicBezTo>
                    <a:pt x="5052568" y="8890000"/>
                    <a:pt x="5632958" y="8772779"/>
                    <a:pt x="6179439" y="8541766"/>
                  </a:cubicBezTo>
                  <a:cubicBezTo>
                    <a:pt x="6707632" y="8318500"/>
                    <a:pt x="7181977" y="7998841"/>
                    <a:pt x="7589520" y="7591679"/>
                  </a:cubicBezTo>
                  <a:cubicBezTo>
                    <a:pt x="8428101" y="6753733"/>
                    <a:pt x="8890000" y="5639562"/>
                    <a:pt x="8890000" y="4454525"/>
                  </a:cubicBezTo>
                  <a:cubicBezTo>
                    <a:pt x="8890000" y="3269742"/>
                    <a:pt x="8428355" y="2155825"/>
                    <a:pt x="7590028" y="1317879"/>
                  </a:cubicBezTo>
                  <a:cubicBezTo>
                    <a:pt x="7182612" y="910590"/>
                    <a:pt x="6708140" y="590931"/>
                    <a:pt x="6180074" y="367538"/>
                  </a:cubicBezTo>
                  <a:cubicBezTo>
                    <a:pt x="5633339" y="136271"/>
                    <a:pt x="5052822" y="19050"/>
                    <a:pt x="4454525" y="19050"/>
                  </a:cubicBezTo>
                  <a:close/>
                  <a:moveTo>
                    <a:pt x="4454525" y="8648065"/>
                  </a:moveTo>
                  <a:cubicBezTo>
                    <a:pt x="3334385" y="8648065"/>
                    <a:pt x="2281301" y="8211693"/>
                    <a:pt x="1489075" y="7419213"/>
                  </a:cubicBezTo>
                  <a:cubicBezTo>
                    <a:pt x="697103" y="6626987"/>
                    <a:pt x="260985" y="5574157"/>
                    <a:pt x="260985" y="4454525"/>
                  </a:cubicBezTo>
                  <a:cubicBezTo>
                    <a:pt x="260985" y="3889756"/>
                    <a:pt x="371602" y="3341497"/>
                    <a:pt x="589788" y="2824988"/>
                  </a:cubicBezTo>
                  <a:cubicBezTo>
                    <a:pt x="800735" y="2325624"/>
                    <a:pt x="1102741" y="1877060"/>
                    <a:pt x="1487297" y="1491742"/>
                  </a:cubicBezTo>
                  <a:cubicBezTo>
                    <a:pt x="2279396" y="698119"/>
                    <a:pt x="3333242" y="260985"/>
                    <a:pt x="4454398" y="260985"/>
                  </a:cubicBezTo>
                  <a:cubicBezTo>
                    <a:pt x="5573776" y="260985"/>
                    <a:pt x="6626606" y="697103"/>
                    <a:pt x="7418832" y="1488948"/>
                  </a:cubicBezTo>
                  <a:cubicBezTo>
                    <a:pt x="8211438" y="2281174"/>
                    <a:pt x="8647937" y="3334385"/>
                    <a:pt x="8647937" y="4454398"/>
                  </a:cubicBezTo>
                  <a:cubicBezTo>
                    <a:pt x="8647937" y="5574792"/>
                    <a:pt x="8211311" y="6628130"/>
                    <a:pt x="7418450" y="7420356"/>
                  </a:cubicBezTo>
                  <a:cubicBezTo>
                    <a:pt x="6626225" y="8212074"/>
                    <a:pt x="5573522" y="8648065"/>
                    <a:pt x="4454525" y="8648065"/>
                  </a:cubicBezTo>
                  <a:close/>
                  <a:moveTo>
                    <a:pt x="4454525" y="280035"/>
                  </a:moveTo>
                  <a:cubicBezTo>
                    <a:pt x="3338449" y="280035"/>
                    <a:pt x="2289429" y="715137"/>
                    <a:pt x="1500886" y="1505204"/>
                  </a:cubicBezTo>
                  <a:cubicBezTo>
                    <a:pt x="713613" y="2294001"/>
                    <a:pt x="280035" y="3341370"/>
                    <a:pt x="280035" y="4454525"/>
                  </a:cubicBezTo>
                  <a:cubicBezTo>
                    <a:pt x="280035" y="5569077"/>
                    <a:pt x="714248" y="6617081"/>
                    <a:pt x="1502537" y="7405751"/>
                  </a:cubicBezTo>
                  <a:cubicBezTo>
                    <a:pt x="2291080" y="8194548"/>
                    <a:pt x="3339465" y="8629015"/>
                    <a:pt x="4454525" y="8629015"/>
                  </a:cubicBezTo>
                  <a:cubicBezTo>
                    <a:pt x="5568442" y="8629015"/>
                    <a:pt x="6616319" y="8195056"/>
                    <a:pt x="7405116" y="7407021"/>
                  </a:cubicBezTo>
                  <a:cubicBezTo>
                    <a:pt x="8194422" y="6618477"/>
                    <a:pt x="8629015" y="5569839"/>
                    <a:pt x="8629015" y="4454525"/>
                  </a:cubicBezTo>
                  <a:cubicBezTo>
                    <a:pt x="8629015" y="3339465"/>
                    <a:pt x="8194548" y="2291080"/>
                    <a:pt x="7405497" y="1502537"/>
                  </a:cubicBezTo>
                  <a:cubicBezTo>
                    <a:pt x="6616827" y="714121"/>
                    <a:pt x="5568823" y="280035"/>
                    <a:pt x="4454525" y="280035"/>
                  </a:cubicBezTo>
                  <a:close/>
                </a:path>
              </a:pathLst>
            </a:custGeom>
            <a:solidFill>
              <a:srgbClr val="A7C362"/>
            </a:solidFill>
          </p:spPr>
        </p:sp>
      </p:grpSp>
      <p:grpSp>
        <p:nvGrpSpPr>
          <p:cNvPr name="Group 16" id="16"/>
          <p:cNvGrpSpPr>
            <a:grpSpLocks noChangeAspect="true"/>
          </p:cNvGrpSpPr>
          <p:nvPr/>
        </p:nvGrpSpPr>
        <p:grpSpPr>
          <a:xfrm rot="0">
            <a:off x="7239166" y="1198262"/>
            <a:ext cx="1904834" cy="1904834"/>
            <a:chOff x="0" y="0"/>
            <a:chExt cx="8909050" cy="8909050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-10398" y="9480"/>
              <a:ext cx="8929847" cy="8890089"/>
            </a:xfrm>
            <a:custGeom>
              <a:avLst/>
              <a:gdLst/>
              <a:ahLst/>
              <a:cxnLst/>
              <a:rect r="r" b="b" t="t" l="l"/>
              <a:pathLst>
                <a:path h="8890089" w="8929847">
                  <a:moveTo>
                    <a:pt x="4464923" y="45"/>
                  </a:moveTo>
                  <a:cubicBezTo>
                    <a:pt x="2872142" y="-7078"/>
                    <a:pt x="1397294" y="838573"/>
                    <a:pt x="598840" y="2216787"/>
                  </a:cubicBezTo>
                  <a:cubicBezTo>
                    <a:pt x="-199614" y="3595001"/>
                    <a:pt x="-199614" y="5295089"/>
                    <a:pt x="598840" y="6673304"/>
                  </a:cubicBezTo>
                  <a:cubicBezTo>
                    <a:pt x="1397294" y="8051517"/>
                    <a:pt x="2872142" y="8897168"/>
                    <a:pt x="4464923" y="8890045"/>
                  </a:cubicBezTo>
                  <a:cubicBezTo>
                    <a:pt x="6057704" y="8897168"/>
                    <a:pt x="7532552" y="8051517"/>
                    <a:pt x="8331006" y="6673304"/>
                  </a:cubicBezTo>
                  <a:cubicBezTo>
                    <a:pt x="9129460" y="5295089"/>
                    <a:pt x="9129460" y="3595001"/>
                    <a:pt x="8331006" y="2216787"/>
                  </a:cubicBezTo>
                  <a:cubicBezTo>
                    <a:pt x="7532552" y="838573"/>
                    <a:pt x="6057704" y="-7078"/>
                    <a:pt x="4464923" y="45"/>
                  </a:cubicBezTo>
                  <a:close/>
                </a:path>
              </a:pathLst>
            </a:custGeom>
            <a:solidFill>
              <a:srgbClr val="353A6A"/>
            </a:solidFill>
          </p:spPr>
        </p:sp>
        <p:sp>
          <p:nvSpPr>
            <p:cNvPr name="Freeform 18" id="18"/>
            <p:cNvSpPr/>
            <p:nvPr/>
          </p:nvSpPr>
          <p:spPr>
            <a:xfrm flipH="false" flipV="false" rot="0">
              <a:off x="251757" y="270468"/>
              <a:ext cx="8405537" cy="8368114"/>
            </a:xfrm>
            <a:custGeom>
              <a:avLst/>
              <a:gdLst/>
              <a:ahLst/>
              <a:cxnLst/>
              <a:rect r="r" b="b" t="t" l="l"/>
              <a:pathLst>
                <a:path h="8368114" w="8405537">
                  <a:moveTo>
                    <a:pt x="4202768" y="42"/>
                  </a:moveTo>
                  <a:cubicBezTo>
                    <a:pt x="2703506" y="-6663"/>
                    <a:pt x="1315253" y="789336"/>
                    <a:pt x="563679" y="2086629"/>
                  </a:cubicBezTo>
                  <a:cubicBezTo>
                    <a:pt x="-187894" y="3383923"/>
                    <a:pt x="-187894" y="4984191"/>
                    <a:pt x="563679" y="6281485"/>
                  </a:cubicBezTo>
                  <a:cubicBezTo>
                    <a:pt x="1315253" y="7578778"/>
                    <a:pt x="2703506" y="8374777"/>
                    <a:pt x="4202768" y="8368072"/>
                  </a:cubicBezTo>
                  <a:cubicBezTo>
                    <a:pt x="5702030" y="8374777"/>
                    <a:pt x="7090283" y="7578778"/>
                    <a:pt x="7841857" y="6281485"/>
                  </a:cubicBezTo>
                  <a:cubicBezTo>
                    <a:pt x="8593429" y="4984191"/>
                    <a:pt x="8593429" y="3383923"/>
                    <a:pt x="7841857" y="2086629"/>
                  </a:cubicBezTo>
                  <a:cubicBezTo>
                    <a:pt x="7090283" y="789336"/>
                    <a:pt x="5702030" y="-6663"/>
                    <a:pt x="4202768" y="42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12700">
              <a:solidFill>
                <a:srgbClr val="000000"/>
              </a:solidFill>
            </a:ln>
          </p:spPr>
        </p:sp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8909050" cy="8909050"/>
            </a:xfrm>
            <a:custGeom>
              <a:avLst/>
              <a:gdLst/>
              <a:ahLst/>
              <a:cxnLst/>
              <a:rect r="r" b="b" t="t" l="l"/>
              <a:pathLst>
                <a:path h="8909050" w="8909050">
                  <a:moveTo>
                    <a:pt x="4454525" y="8909050"/>
                  </a:moveTo>
                  <a:cubicBezTo>
                    <a:pt x="3264662" y="8909050"/>
                    <a:pt x="2146046" y="8445500"/>
                    <a:pt x="1304544" y="7603744"/>
                  </a:cubicBezTo>
                  <a:cubicBezTo>
                    <a:pt x="895477" y="7194550"/>
                    <a:pt x="574294" y="6718173"/>
                    <a:pt x="350012" y="6187694"/>
                  </a:cubicBezTo>
                  <a:cubicBezTo>
                    <a:pt x="117729" y="5638673"/>
                    <a:pt x="0" y="5055489"/>
                    <a:pt x="0" y="4454525"/>
                  </a:cubicBezTo>
                  <a:cubicBezTo>
                    <a:pt x="0" y="3854704"/>
                    <a:pt x="117475" y="3272282"/>
                    <a:pt x="349377" y="2723642"/>
                  </a:cubicBezTo>
                  <a:cubicBezTo>
                    <a:pt x="573405" y="2193163"/>
                    <a:pt x="894207" y="1716786"/>
                    <a:pt x="1302766" y="1307338"/>
                  </a:cubicBezTo>
                  <a:cubicBezTo>
                    <a:pt x="2144141" y="464312"/>
                    <a:pt x="3263519" y="0"/>
                    <a:pt x="4454525" y="0"/>
                  </a:cubicBezTo>
                  <a:cubicBezTo>
                    <a:pt x="5055362" y="0"/>
                    <a:pt x="5638419" y="117729"/>
                    <a:pt x="6187440" y="350012"/>
                  </a:cubicBezTo>
                  <a:cubicBezTo>
                    <a:pt x="6717792" y="574294"/>
                    <a:pt x="7194296" y="895477"/>
                    <a:pt x="7603490" y="1304544"/>
                  </a:cubicBezTo>
                  <a:cubicBezTo>
                    <a:pt x="8445373" y="2146046"/>
                    <a:pt x="8909050" y="3264789"/>
                    <a:pt x="8909050" y="4454652"/>
                  </a:cubicBezTo>
                  <a:cubicBezTo>
                    <a:pt x="8909050" y="5644769"/>
                    <a:pt x="8445246" y="6763766"/>
                    <a:pt x="7602982" y="7605268"/>
                  </a:cubicBezTo>
                  <a:cubicBezTo>
                    <a:pt x="7193789" y="8014208"/>
                    <a:pt x="6717285" y="8335138"/>
                    <a:pt x="6186932" y="8559419"/>
                  </a:cubicBezTo>
                  <a:cubicBezTo>
                    <a:pt x="5637911" y="8791321"/>
                    <a:pt x="5055108" y="8909050"/>
                    <a:pt x="4454525" y="8909050"/>
                  </a:cubicBezTo>
                  <a:close/>
                  <a:moveTo>
                    <a:pt x="4454525" y="19050"/>
                  </a:moveTo>
                  <a:cubicBezTo>
                    <a:pt x="3268599" y="19050"/>
                    <a:pt x="2154047" y="481330"/>
                    <a:pt x="1316228" y="1320800"/>
                  </a:cubicBezTo>
                  <a:cubicBezTo>
                    <a:pt x="909447" y="1728343"/>
                    <a:pt x="590042" y="2202815"/>
                    <a:pt x="366903" y="2731008"/>
                  </a:cubicBezTo>
                  <a:cubicBezTo>
                    <a:pt x="136017" y="3277362"/>
                    <a:pt x="19050" y="3857244"/>
                    <a:pt x="19050" y="4454525"/>
                  </a:cubicBezTo>
                  <a:cubicBezTo>
                    <a:pt x="19050" y="5052949"/>
                    <a:pt x="136271" y="5633593"/>
                    <a:pt x="367538" y="6180328"/>
                  </a:cubicBezTo>
                  <a:cubicBezTo>
                    <a:pt x="590931" y="6708522"/>
                    <a:pt x="910717" y="7182866"/>
                    <a:pt x="1318006" y="7590282"/>
                  </a:cubicBezTo>
                  <a:cubicBezTo>
                    <a:pt x="2155825" y="8428355"/>
                    <a:pt x="3269742" y="8890000"/>
                    <a:pt x="4454525" y="8890000"/>
                  </a:cubicBezTo>
                  <a:cubicBezTo>
                    <a:pt x="5052568" y="8890000"/>
                    <a:pt x="5632958" y="8772779"/>
                    <a:pt x="6179439" y="8541766"/>
                  </a:cubicBezTo>
                  <a:cubicBezTo>
                    <a:pt x="6707632" y="8318500"/>
                    <a:pt x="7181977" y="7998841"/>
                    <a:pt x="7589520" y="7591679"/>
                  </a:cubicBezTo>
                  <a:cubicBezTo>
                    <a:pt x="8428101" y="6753733"/>
                    <a:pt x="8890000" y="5639562"/>
                    <a:pt x="8890000" y="4454525"/>
                  </a:cubicBezTo>
                  <a:cubicBezTo>
                    <a:pt x="8890000" y="3269742"/>
                    <a:pt x="8428355" y="2155825"/>
                    <a:pt x="7590028" y="1317879"/>
                  </a:cubicBezTo>
                  <a:cubicBezTo>
                    <a:pt x="7182612" y="910590"/>
                    <a:pt x="6708140" y="590931"/>
                    <a:pt x="6180074" y="367538"/>
                  </a:cubicBezTo>
                  <a:cubicBezTo>
                    <a:pt x="5633339" y="136271"/>
                    <a:pt x="5052822" y="19050"/>
                    <a:pt x="4454525" y="19050"/>
                  </a:cubicBezTo>
                  <a:close/>
                  <a:moveTo>
                    <a:pt x="4454525" y="8648065"/>
                  </a:moveTo>
                  <a:cubicBezTo>
                    <a:pt x="3334385" y="8648065"/>
                    <a:pt x="2281301" y="8211693"/>
                    <a:pt x="1489075" y="7419213"/>
                  </a:cubicBezTo>
                  <a:cubicBezTo>
                    <a:pt x="697103" y="6626987"/>
                    <a:pt x="260985" y="5574157"/>
                    <a:pt x="260985" y="4454525"/>
                  </a:cubicBezTo>
                  <a:cubicBezTo>
                    <a:pt x="260985" y="3889756"/>
                    <a:pt x="371602" y="3341497"/>
                    <a:pt x="589788" y="2824988"/>
                  </a:cubicBezTo>
                  <a:cubicBezTo>
                    <a:pt x="800735" y="2325624"/>
                    <a:pt x="1102741" y="1877060"/>
                    <a:pt x="1487297" y="1491742"/>
                  </a:cubicBezTo>
                  <a:cubicBezTo>
                    <a:pt x="2279396" y="698119"/>
                    <a:pt x="3333242" y="260985"/>
                    <a:pt x="4454398" y="260985"/>
                  </a:cubicBezTo>
                  <a:cubicBezTo>
                    <a:pt x="5573776" y="260985"/>
                    <a:pt x="6626606" y="697103"/>
                    <a:pt x="7418832" y="1488948"/>
                  </a:cubicBezTo>
                  <a:cubicBezTo>
                    <a:pt x="8211438" y="2281174"/>
                    <a:pt x="8647937" y="3334385"/>
                    <a:pt x="8647937" y="4454398"/>
                  </a:cubicBezTo>
                  <a:cubicBezTo>
                    <a:pt x="8647937" y="5574792"/>
                    <a:pt x="8211311" y="6628130"/>
                    <a:pt x="7418450" y="7420356"/>
                  </a:cubicBezTo>
                  <a:cubicBezTo>
                    <a:pt x="6626225" y="8212074"/>
                    <a:pt x="5573522" y="8648065"/>
                    <a:pt x="4454525" y="8648065"/>
                  </a:cubicBezTo>
                  <a:close/>
                  <a:moveTo>
                    <a:pt x="4454525" y="280035"/>
                  </a:moveTo>
                  <a:cubicBezTo>
                    <a:pt x="3338449" y="280035"/>
                    <a:pt x="2289429" y="715137"/>
                    <a:pt x="1500886" y="1505204"/>
                  </a:cubicBezTo>
                  <a:cubicBezTo>
                    <a:pt x="713613" y="2294001"/>
                    <a:pt x="280035" y="3341370"/>
                    <a:pt x="280035" y="4454525"/>
                  </a:cubicBezTo>
                  <a:cubicBezTo>
                    <a:pt x="280035" y="5569077"/>
                    <a:pt x="714248" y="6617081"/>
                    <a:pt x="1502537" y="7405751"/>
                  </a:cubicBezTo>
                  <a:cubicBezTo>
                    <a:pt x="2291080" y="8194548"/>
                    <a:pt x="3339465" y="8629015"/>
                    <a:pt x="4454525" y="8629015"/>
                  </a:cubicBezTo>
                  <a:cubicBezTo>
                    <a:pt x="5568442" y="8629015"/>
                    <a:pt x="6616319" y="8195056"/>
                    <a:pt x="7405116" y="7407021"/>
                  </a:cubicBezTo>
                  <a:cubicBezTo>
                    <a:pt x="8194422" y="6618477"/>
                    <a:pt x="8629015" y="5569839"/>
                    <a:pt x="8629015" y="4454525"/>
                  </a:cubicBezTo>
                  <a:cubicBezTo>
                    <a:pt x="8629015" y="3339465"/>
                    <a:pt x="8194548" y="2291080"/>
                    <a:pt x="7405497" y="1502537"/>
                  </a:cubicBezTo>
                  <a:cubicBezTo>
                    <a:pt x="6616827" y="714121"/>
                    <a:pt x="5568823" y="280035"/>
                    <a:pt x="4454525" y="280035"/>
                  </a:cubicBezTo>
                  <a:close/>
                </a:path>
              </a:pathLst>
            </a:custGeom>
            <a:solidFill>
              <a:srgbClr val="A7C362"/>
            </a:solidFill>
          </p:spPr>
        </p:sp>
      </p:grpSp>
      <p:sp>
        <p:nvSpPr>
          <p:cNvPr name="TextBox 20" id="20"/>
          <p:cNvSpPr txBox="true"/>
          <p:nvPr/>
        </p:nvSpPr>
        <p:spPr>
          <a:xfrm rot="0">
            <a:off x="9628336" y="897403"/>
            <a:ext cx="6412816" cy="10020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8400"/>
              </a:lnSpc>
            </a:pPr>
            <a:r>
              <a:rPr lang="en-US" b="true" sz="4200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Sebastian Constanzo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1028700" y="753844"/>
            <a:ext cx="5395540" cy="95386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7060"/>
              </a:lnSpc>
              <a:spcBef>
                <a:spcPct val="0"/>
              </a:spcBef>
            </a:pPr>
            <a:r>
              <a:rPr lang="en-US" b="true" sz="5883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Integrantes</a:t>
            </a:r>
          </a:p>
        </p:txBody>
      </p:sp>
      <p:sp>
        <p:nvSpPr>
          <p:cNvPr name="TextBox 22" id="22"/>
          <p:cNvSpPr txBox="true"/>
          <p:nvPr/>
        </p:nvSpPr>
        <p:spPr>
          <a:xfrm rot="0">
            <a:off x="9628336" y="1922079"/>
            <a:ext cx="4491562" cy="6185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117"/>
              </a:lnSpc>
            </a:pPr>
            <a:r>
              <a:rPr lang="en-US" b="true" sz="2558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Product Owner</a:t>
            </a:r>
          </a:p>
        </p:txBody>
      </p:sp>
      <p:sp>
        <p:nvSpPr>
          <p:cNvPr name="TextBox 23" id="23"/>
          <p:cNvSpPr txBox="true"/>
          <p:nvPr/>
        </p:nvSpPr>
        <p:spPr>
          <a:xfrm rot="0">
            <a:off x="9628336" y="3890224"/>
            <a:ext cx="6412816" cy="10020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8400"/>
              </a:lnSpc>
            </a:pPr>
            <a:r>
              <a:rPr lang="en-US" b="true" sz="4200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Nicolas Fuenzalida</a:t>
            </a:r>
          </a:p>
        </p:txBody>
      </p:sp>
      <p:sp>
        <p:nvSpPr>
          <p:cNvPr name="TextBox 24" id="24"/>
          <p:cNvSpPr txBox="true"/>
          <p:nvPr/>
        </p:nvSpPr>
        <p:spPr>
          <a:xfrm rot="0">
            <a:off x="9628336" y="4914900"/>
            <a:ext cx="4491562" cy="6185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117"/>
              </a:lnSpc>
            </a:pPr>
            <a:r>
              <a:rPr lang="en-US" b="true" sz="2558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Scrum Master</a:t>
            </a:r>
          </a:p>
        </p:txBody>
      </p:sp>
      <p:sp>
        <p:nvSpPr>
          <p:cNvPr name="TextBox 25" id="25"/>
          <p:cNvSpPr txBox="true"/>
          <p:nvPr/>
        </p:nvSpPr>
        <p:spPr>
          <a:xfrm rot="0">
            <a:off x="9628336" y="7113697"/>
            <a:ext cx="6412816" cy="10020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8400"/>
              </a:lnSpc>
            </a:pPr>
            <a:r>
              <a:rPr lang="en-US" b="true" sz="4200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Hildebrando Fuentes</a:t>
            </a:r>
          </a:p>
        </p:txBody>
      </p:sp>
      <p:sp>
        <p:nvSpPr>
          <p:cNvPr name="TextBox 26" id="26"/>
          <p:cNvSpPr txBox="true"/>
          <p:nvPr/>
        </p:nvSpPr>
        <p:spPr>
          <a:xfrm rot="0">
            <a:off x="9628336" y="8138374"/>
            <a:ext cx="4491562" cy="6185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117"/>
              </a:lnSpc>
            </a:pPr>
            <a:r>
              <a:rPr lang="en-US" b="true" sz="2558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UX/UI</a:t>
            </a:r>
          </a:p>
        </p:txBody>
      </p:sp>
    </p:spTree>
  </p:cSld>
  <p:clrMapOvr>
    <a:masterClrMapping/>
  </p:clrMapOvr>
  <p:transition spd="fast">
    <p:cover dir="d"/>
  </p:transition>
</p:sld>
</file>

<file path=ppt/slides/slide3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749496" y="2550311"/>
            <a:ext cx="14601380" cy="11266831"/>
            <a:chOff x="0" y="0"/>
            <a:chExt cx="9084935" cy="7010189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9084935" cy="7010188"/>
            </a:xfrm>
            <a:custGeom>
              <a:avLst/>
              <a:gdLst/>
              <a:ahLst/>
              <a:cxnLst/>
              <a:rect r="r" b="b" t="t" l="l"/>
              <a:pathLst>
                <a:path h="7010188" w="9084935">
                  <a:moveTo>
                    <a:pt x="8960475" y="7010188"/>
                  </a:moveTo>
                  <a:lnTo>
                    <a:pt x="124460" y="7010188"/>
                  </a:lnTo>
                  <a:cubicBezTo>
                    <a:pt x="55880" y="7010188"/>
                    <a:pt x="0" y="6954309"/>
                    <a:pt x="0" y="6885729"/>
                  </a:cubicBezTo>
                  <a:lnTo>
                    <a:pt x="0" y="124460"/>
                  </a:lnTo>
                  <a:cubicBezTo>
                    <a:pt x="0" y="55880"/>
                    <a:pt x="55880" y="0"/>
                    <a:pt x="124460" y="0"/>
                  </a:cubicBezTo>
                  <a:lnTo>
                    <a:pt x="8960475" y="0"/>
                  </a:lnTo>
                  <a:cubicBezTo>
                    <a:pt x="9029055" y="0"/>
                    <a:pt x="9084935" y="55880"/>
                    <a:pt x="9084935" y="124460"/>
                  </a:cubicBezTo>
                  <a:lnTo>
                    <a:pt x="9084935" y="6885729"/>
                  </a:lnTo>
                  <a:cubicBezTo>
                    <a:pt x="9084935" y="6954309"/>
                    <a:pt x="9029055" y="7010188"/>
                    <a:pt x="8960475" y="7010188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C3DF7C">
                    <a:alpha val="100000"/>
                  </a:srgbClr>
                </a:gs>
                <a:gs pos="100000">
                  <a:srgbClr val="FFFFFF">
                    <a:alpha val="100000"/>
                  </a:srgbClr>
                </a:gs>
              </a:gsLst>
              <a:lin ang="5400000"/>
            </a:gradFill>
          </p:spPr>
        </p:sp>
      </p:grpSp>
      <p:grpSp>
        <p:nvGrpSpPr>
          <p:cNvPr name="Group 4" id="4"/>
          <p:cNvGrpSpPr/>
          <p:nvPr/>
        </p:nvGrpSpPr>
        <p:grpSpPr>
          <a:xfrm rot="-5400000">
            <a:off x="8908218" y="-6752290"/>
            <a:ext cx="1244536" cy="15561980"/>
            <a:chOff x="0" y="0"/>
            <a:chExt cx="327779" cy="4098629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327779" cy="4098629"/>
            </a:xfrm>
            <a:custGeom>
              <a:avLst/>
              <a:gdLst/>
              <a:ahLst/>
              <a:cxnLst/>
              <a:rect r="r" b="b" t="t" l="l"/>
              <a:pathLst>
                <a:path h="4098629" w="327779">
                  <a:moveTo>
                    <a:pt x="163889" y="0"/>
                  </a:moveTo>
                  <a:lnTo>
                    <a:pt x="163889" y="0"/>
                  </a:lnTo>
                  <a:cubicBezTo>
                    <a:pt x="207356" y="0"/>
                    <a:pt x="249042" y="17267"/>
                    <a:pt x="279777" y="48002"/>
                  </a:cubicBezTo>
                  <a:cubicBezTo>
                    <a:pt x="310512" y="78737"/>
                    <a:pt x="327779" y="120423"/>
                    <a:pt x="327779" y="163889"/>
                  </a:cubicBezTo>
                  <a:lnTo>
                    <a:pt x="327779" y="3934739"/>
                  </a:lnTo>
                  <a:cubicBezTo>
                    <a:pt x="327779" y="3978205"/>
                    <a:pt x="310512" y="4019891"/>
                    <a:pt x="279777" y="4050626"/>
                  </a:cubicBezTo>
                  <a:cubicBezTo>
                    <a:pt x="249042" y="4081362"/>
                    <a:pt x="207356" y="4098629"/>
                    <a:pt x="163889" y="4098629"/>
                  </a:cubicBezTo>
                  <a:lnTo>
                    <a:pt x="163889" y="4098629"/>
                  </a:lnTo>
                  <a:cubicBezTo>
                    <a:pt x="120423" y="4098629"/>
                    <a:pt x="78737" y="4081362"/>
                    <a:pt x="48002" y="4050626"/>
                  </a:cubicBezTo>
                  <a:cubicBezTo>
                    <a:pt x="17267" y="4019891"/>
                    <a:pt x="0" y="3978205"/>
                    <a:pt x="0" y="3934739"/>
                  </a:cubicBezTo>
                  <a:lnTo>
                    <a:pt x="0" y="163889"/>
                  </a:lnTo>
                  <a:cubicBezTo>
                    <a:pt x="0" y="120423"/>
                    <a:pt x="17267" y="78737"/>
                    <a:pt x="48002" y="48002"/>
                  </a:cubicBezTo>
                  <a:cubicBezTo>
                    <a:pt x="78737" y="17267"/>
                    <a:pt x="120423" y="0"/>
                    <a:pt x="163889" y="0"/>
                  </a:cubicBezTo>
                  <a:close/>
                </a:path>
              </a:pathLst>
            </a:custGeom>
            <a:solidFill>
              <a:srgbClr val="08105E"/>
            </a:solidFill>
          </p:spPr>
        </p:sp>
        <p:sp>
          <p:nvSpPr>
            <p:cNvPr name="TextBox 6" id="6"/>
            <p:cNvSpPr txBox="true"/>
            <p:nvPr/>
          </p:nvSpPr>
          <p:spPr>
            <a:xfrm>
              <a:off x="0" y="-47625"/>
              <a:ext cx="327779" cy="414625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7" id="7"/>
          <p:cNvGrpSpPr/>
          <p:nvPr/>
        </p:nvGrpSpPr>
        <p:grpSpPr>
          <a:xfrm rot="0">
            <a:off x="2130354" y="2928686"/>
            <a:ext cx="14051707" cy="7890339"/>
            <a:chOff x="0" y="0"/>
            <a:chExt cx="3700861" cy="2078114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3700861" cy="2078114"/>
            </a:xfrm>
            <a:custGeom>
              <a:avLst/>
              <a:gdLst/>
              <a:ahLst/>
              <a:cxnLst/>
              <a:rect r="r" b="b" t="t" l="l"/>
              <a:pathLst>
                <a:path h="2078114" w="3700861">
                  <a:moveTo>
                    <a:pt x="0" y="0"/>
                  </a:moveTo>
                  <a:lnTo>
                    <a:pt x="3700861" y="0"/>
                  </a:lnTo>
                  <a:lnTo>
                    <a:pt x="3700861" y="2078114"/>
                  </a:lnTo>
                  <a:lnTo>
                    <a:pt x="0" y="2078114"/>
                  </a:lnTo>
                  <a:close/>
                </a:path>
              </a:pathLst>
            </a:custGeom>
            <a:solidFill>
              <a:srgbClr val="353A6A"/>
            </a:solidFill>
          </p:spPr>
        </p:sp>
        <p:sp>
          <p:nvSpPr>
            <p:cNvPr name="TextBox 9" id="9"/>
            <p:cNvSpPr txBox="true"/>
            <p:nvPr/>
          </p:nvSpPr>
          <p:spPr>
            <a:xfrm>
              <a:off x="0" y="-47625"/>
              <a:ext cx="3700861" cy="212573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TextBox 10" id="10"/>
          <p:cNvSpPr txBox="true"/>
          <p:nvPr/>
        </p:nvSpPr>
        <p:spPr>
          <a:xfrm rot="0">
            <a:off x="6545451" y="2842961"/>
            <a:ext cx="5009470" cy="71866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5411"/>
              </a:lnSpc>
              <a:spcBef>
                <a:spcPct val="0"/>
              </a:spcBef>
            </a:pPr>
            <a:r>
              <a:rPr lang="en-US" b="true" sz="4162">
                <a:solidFill>
                  <a:srgbClr val="A7C362"/>
                </a:solidFill>
                <a:latin typeface="Poppins Bold"/>
                <a:ea typeface="Poppins Bold"/>
                <a:cs typeface="Poppins Bold"/>
                <a:sym typeface="Poppins Bold"/>
              </a:rPr>
              <a:t>Problema o dolor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2423169" y="3752850"/>
            <a:ext cx="13466077" cy="65341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539749" indent="-269875" lvl="1">
              <a:lnSpc>
                <a:spcPts val="3749"/>
              </a:lnSpc>
              <a:buFont typeface="Arial"/>
              <a:buChar char="•"/>
            </a:pPr>
            <a:r>
              <a:rPr lang="en-US" sz="2499" spc="-29">
                <a:solidFill>
                  <a:srgbClr val="A7C362"/>
                </a:solidFill>
                <a:latin typeface="Poppins"/>
                <a:ea typeface="Poppins"/>
                <a:cs typeface="Poppins"/>
                <a:sym typeface="Poppins"/>
              </a:rPr>
              <a:t>En muchas comunidades residenciales, como condominios, pasajes o villas, la seguridad de los accesos es limitada. Los sistemas actuales para la apertura de portones suelen ser básicos, basándose principalmente en controles manuales o llaves electrónicas simples. Esto genera varias dificultades:</a:t>
            </a:r>
          </a:p>
          <a:p>
            <a:pPr algn="just" marL="539749" indent="-269875" lvl="1">
              <a:lnSpc>
                <a:spcPts val="3749"/>
              </a:lnSpc>
              <a:buFont typeface="Arial"/>
              <a:buChar char="•"/>
            </a:pPr>
            <a:r>
              <a:rPr lang="en-US" sz="2499" spc="-29">
                <a:solidFill>
                  <a:srgbClr val="A7C362"/>
                </a:solidFill>
                <a:latin typeface="Poppins"/>
                <a:ea typeface="Poppins"/>
                <a:cs typeface="Poppins"/>
                <a:sym typeface="Poppins"/>
              </a:rPr>
              <a:t>No existe un control efectivo que impida que personas no autorizadas ingresen a la comunidad.</a:t>
            </a:r>
          </a:p>
          <a:p>
            <a:pPr algn="just" marL="539749" indent="-269875" lvl="1">
              <a:lnSpc>
                <a:spcPts val="3749"/>
              </a:lnSpc>
              <a:buFont typeface="Arial"/>
              <a:buChar char="•"/>
            </a:pPr>
            <a:r>
              <a:rPr lang="en-US" sz="2499" spc="-29">
                <a:solidFill>
                  <a:srgbClr val="A7C362"/>
                </a:solidFill>
                <a:latin typeface="Poppins"/>
                <a:ea typeface="Poppins"/>
                <a:cs typeface="Poppins"/>
                <a:sym typeface="Poppins"/>
              </a:rPr>
              <a:t>No se puede registrar con certeza quién abre o deja abierto un portón, lo que dificulta la trazabilidad de accesos.</a:t>
            </a:r>
          </a:p>
          <a:p>
            <a:pPr algn="just" marL="539749" indent="-269875" lvl="1">
              <a:lnSpc>
                <a:spcPts val="3749"/>
              </a:lnSpc>
              <a:buFont typeface="Arial"/>
              <a:buChar char="•"/>
            </a:pPr>
            <a:r>
              <a:rPr lang="en-US" sz="2499" spc="-29">
                <a:solidFill>
                  <a:srgbClr val="A7C362"/>
                </a:solidFill>
                <a:latin typeface="Poppins"/>
                <a:ea typeface="Poppins"/>
                <a:cs typeface="Poppins"/>
                <a:sym typeface="Poppins"/>
              </a:rPr>
              <a:t>La dependencia de la acción humana incrementa el riesgo de errores, como dejar un portón abierto sin supervisión.</a:t>
            </a:r>
          </a:p>
          <a:p>
            <a:pPr algn="just" marL="539749" indent="-269875" lvl="1">
              <a:lnSpc>
                <a:spcPts val="3749"/>
              </a:lnSpc>
              <a:buFont typeface="Arial"/>
              <a:buChar char="•"/>
            </a:pPr>
            <a:r>
              <a:rPr lang="en-US" sz="2499" spc="-29">
                <a:solidFill>
                  <a:srgbClr val="A7C362"/>
                </a:solidFill>
                <a:latin typeface="Poppins"/>
                <a:ea typeface="Poppins"/>
                <a:cs typeface="Poppins"/>
                <a:sym typeface="Poppins"/>
              </a:rPr>
              <a:t>Este conjunto de problemas representa un riesgo de seguridad importante, especialmente en zonas con alta densidad de residentes o con antecedentes de ingreso no autorizado</a:t>
            </a:r>
          </a:p>
          <a:p>
            <a:pPr algn="just" marL="0" indent="0" lvl="0">
              <a:lnSpc>
                <a:spcPts val="3749"/>
              </a:lnSpc>
              <a:spcBef>
                <a:spcPct val="0"/>
              </a:spcBef>
            </a:pPr>
          </a:p>
        </p:txBody>
      </p:sp>
      <p:sp>
        <p:nvSpPr>
          <p:cNvPr name="TextBox 12" id="12"/>
          <p:cNvSpPr txBox="true"/>
          <p:nvPr/>
        </p:nvSpPr>
        <p:spPr>
          <a:xfrm rot="0">
            <a:off x="551407" y="320707"/>
            <a:ext cx="17736593" cy="13049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9600"/>
              </a:lnSpc>
              <a:spcBef>
                <a:spcPct val="0"/>
              </a:spcBef>
            </a:pPr>
            <a:r>
              <a:rPr lang="en-US" b="true" sz="8000">
                <a:solidFill>
                  <a:srgbClr val="C3DF7C"/>
                </a:solidFill>
                <a:latin typeface="Poppins Bold"/>
                <a:ea typeface="Poppins Bold"/>
                <a:cs typeface="Poppins Bold"/>
                <a:sym typeface="Poppins Bold"/>
              </a:rPr>
              <a:t>Descripción del proyecto</a:t>
            </a:r>
          </a:p>
        </p:txBody>
      </p:sp>
    </p:spTree>
  </p:cSld>
  <p:clrMapOvr>
    <a:masterClrMapping/>
  </p:clrMapOvr>
  <p:transition spd="fast">
    <p:cover dir="d"/>
  </p:transition>
</p:sld>
</file>

<file path=ppt/slides/slide4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749496" y="2550311"/>
            <a:ext cx="14601380" cy="11266831"/>
            <a:chOff x="0" y="0"/>
            <a:chExt cx="9084935" cy="7010189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9084935" cy="7010188"/>
            </a:xfrm>
            <a:custGeom>
              <a:avLst/>
              <a:gdLst/>
              <a:ahLst/>
              <a:cxnLst/>
              <a:rect r="r" b="b" t="t" l="l"/>
              <a:pathLst>
                <a:path h="7010188" w="9084935">
                  <a:moveTo>
                    <a:pt x="8960475" y="7010188"/>
                  </a:moveTo>
                  <a:lnTo>
                    <a:pt x="124460" y="7010188"/>
                  </a:lnTo>
                  <a:cubicBezTo>
                    <a:pt x="55880" y="7010188"/>
                    <a:pt x="0" y="6954309"/>
                    <a:pt x="0" y="6885729"/>
                  </a:cubicBezTo>
                  <a:lnTo>
                    <a:pt x="0" y="124460"/>
                  </a:lnTo>
                  <a:cubicBezTo>
                    <a:pt x="0" y="55880"/>
                    <a:pt x="55880" y="0"/>
                    <a:pt x="124460" y="0"/>
                  </a:cubicBezTo>
                  <a:lnTo>
                    <a:pt x="8960475" y="0"/>
                  </a:lnTo>
                  <a:cubicBezTo>
                    <a:pt x="9029055" y="0"/>
                    <a:pt x="9084935" y="55880"/>
                    <a:pt x="9084935" y="124460"/>
                  </a:cubicBezTo>
                  <a:lnTo>
                    <a:pt x="9084935" y="6885729"/>
                  </a:lnTo>
                  <a:cubicBezTo>
                    <a:pt x="9084935" y="6954309"/>
                    <a:pt x="9029055" y="7010188"/>
                    <a:pt x="8960475" y="7010188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C3DF7C">
                    <a:alpha val="100000"/>
                  </a:srgbClr>
                </a:gs>
                <a:gs pos="100000">
                  <a:srgbClr val="FFFFFF">
                    <a:alpha val="100000"/>
                  </a:srgbClr>
                </a:gs>
              </a:gsLst>
              <a:lin ang="5400000"/>
            </a:gradFill>
          </p:spPr>
        </p:sp>
      </p:grpSp>
      <p:grpSp>
        <p:nvGrpSpPr>
          <p:cNvPr name="Group 4" id="4"/>
          <p:cNvGrpSpPr/>
          <p:nvPr/>
        </p:nvGrpSpPr>
        <p:grpSpPr>
          <a:xfrm rot="-5400000">
            <a:off x="8908218" y="-6752290"/>
            <a:ext cx="1244536" cy="15561980"/>
            <a:chOff x="0" y="0"/>
            <a:chExt cx="327779" cy="4098629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327779" cy="4098629"/>
            </a:xfrm>
            <a:custGeom>
              <a:avLst/>
              <a:gdLst/>
              <a:ahLst/>
              <a:cxnLst/>
              <a:rect r="r" b="b" t="t" l="l"/>
              <a:pathLst>
                <a:path h="4098629" w="327779">
                  <a:moveTo>
                    <a:pt x="163889" y="0"/>
                  </a:moveTo>
                  <a:lnTo>
                    <a:pt x="163889" y="0"/>
                  </a:lnTo>
                  <a:cubicBezTo>
                    <a:pt x="207356" y="0"/>
                    <a:pt x="249042" y="17267"/>
                    <a:pt x="279777" y="48002"/>
                  </a:cubicBezTo>
                  <a:cubicBezTo>
                    <a:pt x="310512" y="78737"/>
                    <a:pt x="327779" y="120423"/>
                    <a:pt x="327779" y="163889"/>
                  </a:cubicBezTo>
                  <a:lnTo>
                    <a:pt x="327779" y="3934739"/>
                  </a:lnTo>
                  <a:cubicBezTo>
                    <a:pt x="327779" y="3978205"/>
                    <a:pt x="310512" y="4019891"/>
                    <a:pt x="279777" y="4050626"/>
                  </a:cubicBezTo>
                  <a:cubicBezTo>
                    <a:pt x="249042" y="4081362"/>
                    <a:pt x="207356" y="4098629"/>
                    <a:pt x="163889" y="4098629"/>
                  </a:cubicBezTo>
                  <a:lnTo>
                    <a:pt x="163889" y="4098629"/>
                  </a:lnTo>
                  <a:cubicBezTo>
                    <a:pt x="120423" y="4098629"/>
                    <a:pt x="78737" y="4081362"/>
                    <a:pt x="48002" y="4050626"/>
                  </a:cubicBezTo>
                  <a:cubicBezTo>
                    <a:pt x="17267" y="4019891"/>
                    <a:pt x="0" y="3978205"/>
                    <a:pt x="0" y="3934739"/>
                  </a:cubicBezTo>
                  <a:lnTo>
                    <a:pt x="0" y="163889"/>
                  </a:lnTo>
                  <a:cubicBezTo>
                    <a:pt x="0" y="120423"/>
                    <a:pt x="17267" y="78737"/>
                    <a:pt x="48002" y="48002"/>
                  </a:cubicBezTo>
                  <a:cubicBezTo>
                    <a:pt x="78737" y="17267"/>
                    <a:pt x="120423" y="0"/>
                    <a:pt x="163889" y="0"/>
                  </a:cubicBezTo>
                  <a:close/>
                </a:path>
              </a:pathLst>
            </a:custGeom>
            <a:solidFill>
              <a:srgbClr val="08105E"/>
            </a:solidFill>
          </p:spPr>
        </p:sp>
        <p:sp>
          <p:nvSpPr>
            <p:cNvPr name="TextBox 6" id="6"/>
            <p:cNvSpPr txBox="true"/>
            <p:nvPr/>
          </p:nvSpPr>
          <p:spPr>
            <a:xfrm>
              <a:off x="0" y="-47625"/>
              <a:ext cx="327779" cy="414625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7" id="7"/>
          <p:cNvGrpSpPr/>
          <p:nvPr/>
        </p:nvGrpSpPr>
        <p:grpSpPr>
          <a:xfrm rot="0">
            <a:off x="2130354" y="2928686"/>
            <a:ext cx="14051707" cy="7890339"/>
            <a:chOff x="0" y="0"/>
            <a:chExt cx="3700861" cy="2078114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3700861" cy="2078114"/>
            </a:xfrm>
            <a:custGeom>
              <a:avLst/>
              <a:gdLst/>
              <a:ahLst/>
              <a:cxnLst/>
              <a:rect r="r" b="b" t="t" l="l"/>
              <a:pathLst>
                <a:path h="2078114" w="3700861">
                  <a:moveTo>
                    <a:pt x="0" y="0"/>
                  </a:moveTo>
                  <a:lnTo>
                    <a:pt x="3700861" y="0"/>
                  </a:lnTo>
                  <a:lnTo>
                    <a:pt x="3700861" y="2078114"/>
                  </a:lnTo>
                  <a:lnTo>
                    <a:pt x="0" y="2078114"/>
                  </a:lnTo>
                  <a:close/>
                </a:path>
              </a:pathLst>
            </a:custGeom>
            <a:solidFill>
              <a:srgbClr val="353A6A"/>
            </a:solidFill>
          </p:spPr>
        </p:sp>
        <p:sp>
          <p:nvSpPr>
            <p:cNvPr name="TextBox 9" id="9"/>
            <p:cNvSpPr txBox="true"/>
            <p:nvPr/>
          </p:nvSpPr>
          <p:spPr>
            <a:xfrm>
              <a:off x="0" y="-47625"/>
              <a:ext cx="3700861" cy="212573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TextBox 10" id="10"/>
          <p:cNvSpPr txBox="true"/>
          <p:nvPr/>
        </p:nvSpPr>
        <p:spPr>
          <a:xfrm rot="0">
            <a:off x="5734266" y="2842961"/>
            <a:ext cx="7370875" cy="71866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5411"/>
              </a:lnSpc>
              <a:spcBef>
                <a:spcPct val="0"/>
              </a:spcBef>
            </a:pPr>
            <a:r>
              <a:rPr lang="en-US" b="true" sz="4162">
                <a:solidFill>
                  <a:srgbClr val="A7C362"/>
                </a:solidFill>
                <a:latin typeface="Poppins Bold"/>
                <a:ea typeface="Poppins Bold"/>
                <a:cs typeface="Poppins Bold"/>
                <a:sym typeface="Poppins Bold"/>
              </a:rPr>
              <a:t>Propuesta de solución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2423169" y="3752850"/>
            <a:ext cx="13466077" cy="56007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539749" indent="-269875" lvl="1">
              <a:lnSpc>
                <a:spcPts val="3749"/>
              </a:lnSpc>
              <a:buFont typeface="Arial"/>
              <a:buChar char="•"/>
            </a:pPr>
            <a:r>
              <a:rPr lang="en-US" sz="2499" spc="-29">
                <a:solidFill>
                  <a:srgbClr val="A7C362"/>
                </a:solidFill>
                <a:latin typeface="Poppins"/>
                <a:ea typeface="Poppins"/>
                <a:cs typeface="Poppins"/>
                <a:sym typeface="Poppins"/>
              </a:rPr>
              <a:t>Se propone desarrollar un sistema informático inteligente para la apertura y cierre automatizado de portones, integrando tecnología de detección de imágenes mediante cámaras y una aplicación móvil. Las principales funcionalidades serían:</a:t>
            </a:r>
          </a:p>
          <a:p>
            <a:pPr algn="just" marL="539749" indent="-269875" lvl="1">
              <a:lnSpc>
                <a:spcPts val="3749"/>
              </a:lnSpc>
              <a:buFont typeface="Arial"/>
              <a:buChar char="•"/>
            </a:pPr>
            <a:r>
              <a:rPr lang="en-US" sz="2499" spc="-29">
                <a:solidFill>
                  <a:srgbClr val="A7C362"/>
                </a:solidFill>
                <a:latin typeface="Poppins"/>
                <a:ea typeface="Poppins"/>
                <a:cs typeface="Poppins"/>
                <a:sym typeface="Poppins"/>
              </a:rPr>
              <a:t>Apertura y cierre automático del portón:  El sistema lo abre y cierra automáticamente luego de detectar patente registrada en condominio.</a:t>
            </a:r>
          </a:p>
          <a:p>
            <a:pPr algn="just" marL="539749" indent="-269875" lvl="1">
              <a:lnSpc>
                <a:spcPts val="3749"/>
              </a:lnSpc>
              <a:buFont typeface="Arial"/>
              <a:buChar char="•"/>
            </a:pPr>
            <a:r>
              <a:rPr lang="en-US" sz="2499" spc="-29">
                <a:solidFill>
                  <a:srgbClr val="A7C362"/>
                </a:solidFill>
                <a:latin typeface="Poppins"/>
                <a:ea typeface="Poppins"/>
                <a:cs typeface="Poppins"/>
                <a:sym typeface="Poppins"/>
              </a:rPr>
              <a:t>Registro de identidad del usuario: Cada interacción con el sistema (apertura o cierre) </a:t>
            </a:r>
          </a:p>
          <a:p>
            <a:pPr algn="just" marL="539749" indent="-269875" lvl="1">
              <a:lnSpc>
                <a:spcPts val="3749"/>
              </a:lnSpc>
              <a:buFont typeface="Arial"/>
              <a:buChar char="•"/>
            </a:pPr>
            <a:r>
              <a:rPr lang="en-US" sz="2499" spc="-29">
                <a:solidFill>
                  <a:srgbClr val="A7C362"/>
                </a:solidFill>
                <a:latin typeface="Poppins"/>
                <a:ea typeface="Poppins"/>
                <a:cs typeface="Poppins"/>
                <a:sym typeface="Poppins"/>
              </a:rPr>
              <a:t>Reducción de riesgos de ingreso no autorizado</a:t>
            </a:r>
          </a:p>
          <a:p>
            <a:pPr algn="just" marL="539749" indent="-269875" lvl="1">
              <a:lnSpc>
                <a:spcPts val="3749"/>
              </a:lnSpc>
              <a:buFont typeface="Arial"/>
              <a:buChar char="•"/>
            </a:pPr>
            <a:r>
              <a:rPr lang="en-US" sz="2499" spc="-29">
                <a:solidFill>
                  <a:srgbClr val="A7C362"/>
                </a:solidFill>
                <a:latin typeface="Poppins"/>
                <a:ea typeface="Poppins"/>
                <a:cs typeface="Poppins"/>
                <a:sym typeface="Poppins"/>
              </a:rPr>
              <a:t>En conjunto, el sistema permite controlar los accesos de manera más eficiente, segura y confiable, mejorando la experiencia de los residentes y aportando evidencia en caso de incidentes.</a:t>
            </a:r>
          </a:p>
          <a:p>
            <a:pPr algn="just" marL="0" indent="0" lvl="0">
              <a:lnSpc>
                <a:spcPts val="3749"/>
              </a:lnSpc>
              <a:spcBef>
                <a:spcPct val="0"/>
              </a:spcBef>
            </a:pPr>
          </a:p>
        </p:txBody>
      </p:sp>
      <p:sp>
        <p:nvSpPr>
          <p:cNvPr name="TextBox 12" id="12"/>
          <p:cNvSpPr txBox="true"/>
          <p:nvPr/>
        </p:nvSpPr>
        <p:spPr>
          <a:xfrm rot="0">
            <a:off x="551407" y="320707"/>
            <a:ext cx="17736593" cy="13049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9600"/>
              </a:lnSpc>
              <a:spcBef>
                <a:spcPct val="0"/>
              </a:spcBef>
            </a:pPr>
            <a:r>
              <a:rPr lang="en-US" b="true" sz="8000">
                <a:solidFill>
                  <a:srgbClr val="C3DF7C"/>
                </a:solidFill>
                <a:latin typeface="Poppins Bold"/>
                <a:ea typeface="Poppins Bold"/>
                <a:cs typeface="Poppins Bold"/>
                <a:sym typeface="Poppins Bold"/>
              </a:rPr>
              <a:t>Descripción del proyecto</a:t>
            </a:r>
          </a:p>
        </p:txBody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>
            <a:off x="1417753" y="4250402"/>
            <a:ext cx="16068675" cy="0"/>
          </a:xfrm>
          <a:prstGeom prst="line">
            <a:avLst/>
          </a:prstGeom>
          <a:ln cap="rnd" w="19050">
            <a:solidFill>
              <a:srgbClr val="A7C362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3" id="3"/>
          <p:cNvGrpSpPr/>
          <p:nvPr/>
        </p:nvGrpSpPr>
        <p:grpSpPr>
          <a:xfrm rot="0">
            <a:off x="3426574" y="4088477"/>
            <a:ext cx="323850" cy="323850"/>
            <a:chOff x="0" y="0"/>
            <a:chExt cx="6350000" cy="6350000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6350000" cy="6350000"/>
            </a:xfrm>
            <a:custGeom>
              <a:avLst/>
              <a:gdLst/>
              <a:ahLst/>
              <a:cxnLst/>
              <a:rect r="r" b="b" t="t" l="l"/>
              <a:pathLst>
                <a:path h="6350000" w="6350000">
                  <a:moveTo>
                    <a:pt x="3175000" y="0"/>
                  </a:moveTo>
                  <a:cubicBezTo>
                    <a:pt x="1421496" y="0"/>
                    <a:pt x="0" y="1421496"/>
                    <a:pt x="0" y="3175000"/>
                  </a:cubicBezTo>
                  <a:cubicBezTo>
                    <a:pt x="0" y="4928504"/>
                    <a:pt x="1421496" y="6350000"/>
                    <a:pt x="3175000" y="6350000"/>
                  </a:cubicBezTo>
                  <a:cubicBezTo>
                    <a:pt x="4928504" y="6350000"/>
                    <a:pt x="6350000" y="4928504"/>
                    <a:pt x="6350000" y="3175000"/>
                  </a:cubicBezTo>
                  <a:cubicBezTo>
                    <a:pt x="6350000" y="1421496"/>
                    <a:pt x="4928504" y="0"/>
                    <a:pt x="3175000" y="0"/>
                  </a:cubicBezTo>
                  <a:close/>
                </a:path>
              </a:pathLst>
            </a:custGeom>
            <a:solidFill>
              <a:srgbClr val="A7C362"/>
            </a:solidFill>
          </p:spPr>
        </p:sp>
      </p:grpSp>
      <p:grpSp>
        <p:nvGrpSpPr>
          <p:cNvPr name="Group 5" id="5"/>
          <p:cNvGrpSpPr/>
          <p:nvPr/>
        </p:nvGrpSpPr>
        <p:grpSpPr>
          <a:xfrm rot="0">
            <a:off x="12587745" y="4093210"/>
            <a:ext cx="323850" cy="323850"/>
            <a:chOff x="0" y="0"/>
            <a:chExt cx="6350000" cy="635000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6350000" cy="6350000"/>
            </a:xfrm>
            <a:custGeom>
              <a:avLst/>
              <a:gdLst/>
              <a:ahLst/>
              <a:cxnLst/>
              <a:rect r="r" b="b" t="t" l="l"/>
              <a:pathLst>
                <a:path h="6350000" w="6350000">
                  <a:moveTo>
                    <a:pt x="3175000" y="0"/>
                  </a:moveTo>
                  <a:cubicBezTo>
                    <a:pt x="1421496" y="0"/>
                    <a:pt x="0" y="1421496"/>
                    <a:pt x="0" y="3175000"/>
                  </a:cubicBezTo>
                  <a:cubicBezTo>
                    <a:pt x="0" y="4928504"/>
                    <a:pt x="1421496" y="6350000"/>
                    <a:pt x="3175000" y="6350000"/>
                  </a:cubicBezTo>
                  <a:cubicBezTo>
                    <a:pt x="4928504" y="6350000"/>
                    <a:pt x="6350000" y="4928504"/>
                    <a:pt x="6350000" y="3175000"/>
                  </a:cubicBezTo>
                  <a:cubicBezTo>
                    <a:pt x="6350000" y="1421496"/>
                    <a:pt x="4928504" y="0"/>
                    <a:pt x="3175000" y="0"/>
                  </a:cubicBezTo>
                  <a:close/>
                </a:path>
              </a:pathLst>
            </a:custGeom>
            <a:solidFill>
              <a:srgbClr val="A7C362"/>
            </a:solidFill>
          </p:spPr>
        </p:sp>
      </p:grpSp>
      <p:grpSp>
        <p:nvGrpSpPr>
          <p:cNvPr name="Group 7" id="7"/>
          <p:cNvGrpSpPr/>
          <p:nvPr/>
        </p:nvGrpSpPr>
        <p:grpSpPr>
          <a:xfrm rot="-5400000">
            <a:off x="8200132" y="-4043276"/>
            <a:ext cx="1244536" cy="10143951"/>
            <a:chOff x="0" y="0"/>
            <a:chExt cx="327779" cy="2671658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327779" cy="2671658"/>
            </a:xfrm>
            <a:custGeom>
              <a:avLst/>
              <a:gdLst/>
              <a:ahLst/>
              <a:cxnLst/>
              <a:rect r="r" b="b" t="t" l="l"/>
              <a:pathLst>
                <a:path h="2671658" w="327779">
                  <a:moveTo>
                    <a:pt x="163889" y="0"/>
                  </a:moveTo>
                  <a:lnTo>
                    <a:pt x="163889" y="0"/>
                  </a:lnTo>
                  <a:cubicBezTo>
                    <a:pt x="207356" y="0"/>
                    <a:pt x="249042" y="17267"/>
                    <a:pt x="279777" y="48002"/>
                  </a:cubicBezTo>
                  <a:cubicBezTo>
                    <a:pt x="310512" y="78737"/>
                    <a:pt x="327779" y="120423"/>
                    <a:pt x="327779" y="163889"/>
                  </a:cubicBezTo>
                  <a:lnTo>
                    <a:pt x="327779" y="2507768"/>
                  </a:lnTo>
                  <a:cubicBezTo>
                    <a:pt x="327779" y="2551235"/>
                    <a:pt x="310512" y="2592920"/>
                    <a:pt x="279777" y="2623656"/>
                  </a:cubicBezTo>
                  <a:cubicBezTo>
                    <a:pt x="249042" y="2654391"/>
                    <a:pt x="207356" y="2671658"/>
                    <a:pt x="163889" y="2671658"/>
                  </a:cubicBezTo>
                  <a:lnTo>
                    <a:pt x="163889" y="2671658"/>
                  </a:lnTo>
                  <a:cubicBezTo>
                    <a:pt x="120423" y="2671658"/>
                    <a:pt x="78737" y="2654391"/>
                    <a:pt x="48002" y="2623656"/>
                  </a:cubicBezTo>
                  <a:cubicBezTo>
                    <a:pt x="17267" y="2592920"/>
                    <a:pt x="0" y="2551235"/>
                    <a:pt x="0" y="2507768"/>
                  </a:cubicBezTo>
                  <a:lnTo>
                    <a:pt x="0" y="163889"/>
                  </a:lnTo>
                  <a:cubicBezTo>
                    <a:pt x="0" y="120423"/>
                    <a:pt x="17267" y="78737"/>
                    <a:pt x="48002" y="48002"/>
                  </a:cubicBezTo>
                  <a:cubicBezTo>
                    <a:pt x="78737" y="17267"/>
                    <a:pt x="120423" y="0"/>
                    <a:pt x="163889" y="0"/>
                  </a:cubicBezTo>
                  <a:close/>
                </a:path>
              </a:pathLst>
            </a:custGeom>
            <a:solidFill>
              <a:srgbClr val="08105E"/>
            </a:solidFill>
          </p:spPr>
        </p:sp>
        <p:sp>
          <p:nvSpPr>
            <p:cNvPr name="TextBox 9" id="9"/>
            <p:cNvSpPr txBox="true"/>
            <p:nvPr/>
          </p:nvSpPr>
          <p:spPr>
            <a:xfrm>
              <a:off x="0" y="-47625"/>
              <a:ext cx="327779" cy="271928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Freeform 10" id="10"/>
          <p:cNvSpPr/>
          <p:nvPr/>
        </p:nvSpPr>
        <p:spPr>
          <a:xfrm flipH="false" flipV="false" rot="0">
            <a:off x="3009505" y="2269647"/>
            <a:ext cx="1101956" cy="1200150"/>
          </a:xfrm>
          <a:custGeom>
            <a:avLst/>
            <a:gdLst/>
            <a:ahLst/>
            <a:cxnLst/>
            <a:rect r="r" b="b" t="t" l="l"/>
            <a:pathLst>
              <a:path h="1200150" w="1101956">
                <a:moveTo>
                  <a:pt x="0" y="0"/>
                </a:moveTo>
                <a:lnTo>
                  <a:pt x="1101955" y="0"/>
                </a:lnTo>
                <a:lnTo>
                  <a:pt x="1101955" y="1200150"/>
                </a:lnTo>
                <a:lnTo>
                  <a:pt x="0" y="120015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1" id="11"/>
          <p:cNvSpPr txBox="true"/>
          <p:nvPr/>
        </p:nvSpPr>
        <p:spPr>
          <a:xfrm rot="0">
            <a:off x="4111460" y="320707"/>
            <a:ext cx="9421879" cy="13049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9600"/>
              </a:lnSpc>
              <a:spcBef>
                <a:spcPct val="0"/>
              </a:spcBef>
            </a:pPr>
            <a:r>
              <a:rPr lang="en-US" b="true" sz="8000">
                <a:solidFill>
                  <a:srgbClr val="A7C362"/>
                </a:solidFill>
                <a:latin typeface="Poppins Bold"/>
                <a:ea typeface="Poppins Bold"/>
                <a:cs typeface="Poppins Bold"/>
                <a:sym typeface="Poppins Bold"/>
              </a:rPr>
              <a:t>Objetivos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2004192" y="4664710"/>
            <a:ext cx="3761857" cy="4787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639"/>
              </a:lnSpc>
              <a:spcBef>
                <a:spcPct val="0"/>
              </a:spcBef>
            </a:pPr>
            <a:r>
              <a:rPr lang="en-US" b="true" sz="2799">
                <a:solidFill>
                  <a:srgbClr val="08105E"/>
                </a:solidFill>
                <a:latin typeface="Poppins Bold"/>
                <a:ea typeface="Poppins Bold"/>
                <a:cs typeface="Poppins Bold"/>
                <a:sym typeface="Poppins Bold"/>
              </a:rPr>
              <a:t>Objetivos generales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1028700" y="5744583"/>
            <a:ext cx="6393402" cy="254441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3501"/>
              </a:lnSpc>
            </a:pPr>
            <a:r>
              <a:rPr lang="en-US" sz="2501">
                <a:solidFill>
                  <a:srgbClr val="08105E"/>
                </a:solidFill>
                <a:latin typeface="Poppins"/>
                <a:ea typeface="Poppins"/>
                <a:cs typeface="Poppins"/>
                <a:sym typeface="Poppins"/>
              </a:rPr>
              <a:t>·Implementar un sistema informático intuitivo y seguro que facilite el control de acceso en comunidades residenciales, mejorando la experiencia de usuario y aumentando la seguridad.</a:t>
            </a:r>
          </a:p>
          <a:p>
            <a:pPr algn="l" marL="0" indent="0" lvl="0">
              <a:lnSpc>
                <a:spcPts val="2661"/>
              </a:lnSpc>
              <a:spcBef>
                <a:spcPct val="0"/>
              </a:spcBef>
            </a:pPr>
          </a:p>
        </p:txBody>
      </p:sp>
      <p:sp>
        <p:nvSpPr>
          <p:cNvPr name="TextBox 14" id="14"/>
          <p:cNvSpPr txBox="true"/>
          <p:nvPr/>
        </p:nvSpPr>
        <p:spPr>
          <a:xfrm rot="0">
            <a:off x="10848739" y="4664710"/>
            <a:ext cx="4125712" cy="4787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639"/>
              </a:lnSpc>
              <a:spcBef>
                <a:spcPct val="0"/>
              </a:spcBef>
            </a:pPr>
            <a:r>
              <a:rPr lang="en-US" b="true" sz="2799">
                <a:solidFill>
                  <a:srgbClr val="08105E"/>
                </a:solidFill>
                <a:latin typeface="Poppins Bold"/>
                <a:ea typeface="Poppins Bold"/>
                <a:cs typeface="Poppins Bold"/>
                <a:sym typeface="Poppins Bold"/>
              </a:rPr>
              <a:t>Objetivos específicos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7785783" y="5534025"/>
            <a:ext cx="9149667" cy="52609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539749" indent="-269875" lvl="1">
              <a:lnSpc>
                <a:spcPts val="3499"/>
              </a:lnSpc>
              <a:buFont typeface="Arial"/>
              <a:buChar char="•"/>
            </a:pPr>
            <a:r>
              <a:rPr lang="en-US" sz="2499">
                <a:solidFill>
                  <a:srgbClr val="08105E"/>
                </a:solidFill>
                <a:latin typeface="Poppins"/>
                <a:ea typeface="Poppins"/>
                <a:cs typeface="Poppins"/>
                <a:sym typeface="Poppins"/>
              </a:rPr>
              <a:t>Incrementar la seguridad en comunidades residenciales mediante la automatización de portones, reduciendo la posibilidad de ingresos indebidos.  </a:t>
            </a:r>
          </a:p>
          <a:p>
            <a:pPr algn="l">
              <a:lnSpc>
                <a:spcPts val="3499"/>
              </a:lnSpc>
            </a:pPr>
          </a:p>
          <a:p>
            <a:pPr algn="l" marL="539749" indent="-269875" lvl="1">
              <a:lnSpc>
                <a:spcPts val="3499"/>
              </a:lnSpc>
              <a:buFont typeface="Arial"/>
              <a:buChar char="•"/>
            </a:pPr>
            <a:r>
              <a:rPr lang="en-US" sz="2499">
                <a:solidFill>
                  <a:srgbClr val="08105E"/>
                </a:solidFill>
                <a:latin typeface="Poppins"/>
                <a:ea typeface="Poppins"/>
                <a:cs typeface="Poppins"/>
                <a:sym typeface="Poppins"/>
              </a:rPr>
              <a:t>Ofrecer a comunidades residenciales una solución tecnológica de bajo costo y alta eficiencia, contribuyendo a mejorar su calidad de vida y seguridad </a:t>
            </a:r>
          </a:p>
          <a:p>
            <a:pPr algn="l">
              <a:lnSpc>
                <a:spcPts val="3499"/>
              </a:lnSpc>
            </a:pPr>
          </a:p>
          <a:p>
            <a:pPr algn="l">
              <a:lnSpc>
                <a:spcPts val="3499"/>
              </a:lnSpc>
            </a:pPr>
          </a:p>
          <a:p>
            <a:pPr algn="l" marL="0" indent="0" lvl="0">
              <a:lnSpc>
                <a:spcPts val="3499"/>
              </a:lnSpc>
              <a:spcBef>
                <a:spcPct val="0"/>
              </a:spcBef>
            </a:pPr>
          </a:p>
        </p:txBody>
      </p:sp>
      <p:sp>
        <p:nvSpPr>
          <p:cNvPr name="Freeform 16" id="16"/>
          <p:cNvSpPr/>
          <p:nvPr/>
        </p:nvSpPr>
        <p:spPr>
          <a:xfrm flipH="false" flipV="false" rot="0">
            <a:off x="12360617" y="2435860"/>
            <a:ext cx="1101956" cy="1200150"/>
          </a:xfrm>
          <a:custGeom>
            <a:avLst/>
            <a:gdLst/>
            <a:ahLst/>
            <a:cxnLst/>
            <a:rect r="r" b="b" t="t" l="l"/>
            <a:pathLst>
              <a:path h="1200150" w="1101956">
                <a:moveTo>
                  <a:pt x="0" y="0"/>
                </a:moveTo>
                <a:lnTo>
                  <a:pt x="1101955" y="0"/>
                </a:lnTo>
                <a:lnTo>
                  <a:pt x="1101955" y="1200150"/>
                </a:lnTo>
                <a:lnTo>
                  <a:pt x="0" y="120015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AutoShape 17" id="17"/>
          <p:cNvSpPr/>
          <p:nvPr/>
        </p:nvSpPr>
        <p:spPr>
          <a:xfrm>
            <a:off x="-3482735" y="1009650"/>
            <a:ext cx="6492240" cy="0"/>
          </a:xfrm>
          <a:prstGeom prst="line">
            <a:avLst/>
          </a:prstGeom>
          <a:ln cap="flat" w="38100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18" id="18"/>
          <p:cNvSpPr txBox="true"/>
          <p:nvPr/>
        </p:nvSpPr>
        <p:spPr>
          <a:xfrm rot="0">
            <a:off x="-1608319" y="601198"/>
            <a:ext cx="6052143" cy="20009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570"/>
              </a:lnSpc>
              <a:spcBef>
                <a:spcPct val="0"/>
              </a:spcBef>
            </a:pPr>
            <a:r>
              <a:rPr lang="en-US" sz="1122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PROYECTO “BlockIA”</a:t>
            </a:r>
          </a:p>
        </p:txBody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3129087" y="3255868"/>
            <a:ext cx="12029827" cy="52387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3750"/>
              </a:lnSpc>
            </a:pPr>
            <a:r>
              <a:rPr lang="en-US" sz="2500">
                <a:solidFill>
                  <a:srgbClr val="08105E"/>
                </a:solidFill>
                <a:latin typeface="Poppins"/>
                <a:ea typeface="Poppins"/>
                <a:cs typeface="Poppins"/>
                <a:sym typeface="Poppins"/>
              </a:rPr>
              <a:t>El proyecto contempla diseño, desarrollo e implementación de un sistema informático de control de acceso vehicular en comunidades residenciales, como condominios pasajes y villas, el sistema incluye:</a:t>
            </a:r>
          </a:p>
          <a:p>
            <a:pPr algn="just" marL="539751" indent="-269876" lvl="1">
              <a:lnSpc>
                <a:spcPts val="3750"/>
              </a:lnSpc>
              <a:buFont typeface="Arial"/>
              <a:buChar char="•"/>
            </a:pPr>
            <a:r>
              <a:rPr lang="en-US" sz="2500">
                <a:solidFill>
                  <a:srgbClr val="08105E"/>
                </a:solidFill>
                <a:latin typeface="Poppins"/>
                <a:ea typeface="Poppins"/>
                <a:cs typeface="Poppins"/>
                <a:sym typeface="Poppins"/>
              </a:rPr>
              <a:t>Desarrollo de una aplicación móvil de control de acceso con funciones de apertura de portón automatizado </a:t>
            </a:r>
          </a:p>
          <a:p>
            <a:pPr algn="just" marL="539751" indent="-269876" lvl="1">
              <a:lnSpc>
                <a:spcPts val="3750"/>
              </a:lnSpc>
              <a:buFont typeface="Arial"/>
              <a:buChar char="•"/>
            </a:pPr>
            <a:r>
              <a:rPr lang="en-US" sz="2500">
                <a:solidFill>
                  <a:srgbClr val="08105E"/>
                </a:solidFill>
                <a:latin typeface="Poppins"/>
                <a:ea typeface="Poppins"/>
                <a:cs typeface="Poppins"/>
                <a:sym typeface="Poppins"/>
              </a:rPr>
              <a:t>Integración con cámaras con detección de imagen para activar apertura y cierre automático del portón al detectar pantente registrada</a:t>
            </a:r>
          </a:p>
          <a:p>
            <a:pPr algn="just" marL="539751" indent="-269876" lvl="1">
              <a:lnSpc>
                <a:spcPts val="3750"/>
              </a:lnSpc>
              <a:buFont typeface="Arial"/>
              <a:buChar char="•"/>
            </a:pPr>
            <a:r>
              <a:rPr lang="en-US" sz="2500">
                <a:solidFill>
                  <a:srgbClr val="08105E"/>
                </a:solidFill>
                <a:latin typeface="Poppins"/>
                <a:ea typeface="Poppins"/>
                <a:cs typeface="Poppins"/>
                <a:sym typeface="Poppins"/>
              </a:rPr>
              <a:t>Generar registros de accesos para trazabilidad y control.</a:t>
            </a:r>
          </a:p>
          <a:p>
            <a:pPr algn="just" marL="539751" indent="-269876" lvl="1">
              <a:lnSpc>
                <a:spcPts val="3750"/>
              </a:lnSpc>
              <a:buFont typeface="Arial"/>
              <a:buChar char="•"/>
            </a:pPr>
            <a:r>
              <a:rPr lang="en-US" sz="2500">
                <a:solidFill>
                  <a:srgbClr val="08105E"/>
                </a:solidFill>
                <a:latin typeface="Poppins"/>
                <a:ea typeface="Poppins"/>
                <a:cs typeface="Poppins"/>
                <a:sym typeface="Poppins"/>
              </a:rPr>
              <a:t>Funcionalidad de visitas validado con el numero telefónico para aumentar la seguridad en la comunidad.</a:t>
            </a:r>
          </a:p>
          <a:p>
            <a:pPr algn="just">
              <a:lnSpc>
                <a:spcPts val="3750"/>
              </a:lnSpc>
            </a:pPr>
          </a:p>
        </p:txBody>
      </p:sp>
      <p:sp>
        <p:nvSpPr>
          <p:cNvPr name="TextBox 3" id="3"/>
          <p:cNvSpPr txBox="true"/>
          <p:nvPr/>
        </p:nvSpPr>
        <p:spPr>
          <a:xfrm rot="0">
            <a:off x="4075449" y="962025"/>
            <a:ext cx="10864811" cy="103127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7625"/>
              </a:lnSpc>
              <a:spcBef>
                <a:spcPct val="0"/>
              </a:spcBef>
            </a:pPr>
            <a:r>
              <a:rPr lang="en-US" b="true" sz="6354">
                <a:solidFill>
                  <a:srgbClr val="08105E"/>
                </a:solidFill>
                <a:latin typeface="Poppins Bold"/>
                <a:ea typeface="Poppins Bold"/>
                <a:cs typeface="Poppins Bold"/>
                <a:sym typeface="Poppins Bold"/>
              </a:rPr>
              <a:t>Alcance del proyecto</a:t>
            </a:r>
          </a:p>
        </p:txBody>
      </p:sp>
      <p:grpSp>
        <p:nvGrpSpPr>
          <p:cNvPr name="Group 4" id="4"/>
          <p:cNvGrpSpPr/>
          <p:nvPr/>
        </p:nvGrpSpPr>
        <p:grpSpPr>
          <a:xfrm rot="-5400000">
            <a:off x="763899" y="-254162"/>
            <a:ext cx="1082326" cy="3648049"/>
            <a:chOff x="0" y="0"/>
            <a:chExt cx="285057" cy="960803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85057" cy="960803"/>
            </a:xfrm>
            <a:custGeom>
              <a:avLst/>
              <a:gdLst/>
              <a:ahLst/>
              <a:cxnLst/>
              <a:rect r="r" b="b" t="t" l="l"/>
              <a:pathLst>
                <a:path h="960803" w="285057">
                  <a:moveTo>
                    <a:pt x="142528" y="0"/>
                  </a:moveTo>
                  <a:lnTo>
                    <a:pt x="142528" y="0"/>
                  </a:lnTo>
                  <a:cubicBezTo>
                    <a:pt x="221245" y="0"/>
                    <a:pt x="285057" y="63812"/>
                    <a:pt x="285057" y="142528"/>
                  </a:cubicBezTo>
                  <a:lnTo>
                    <a:pt x="285057" y="818274"/>
                  </a:lnTo>
                  <a:cubicBezTo>
                    <a:pt x="285057" y="856075"/>
                    <a:pt x="270041" y="892328"/>
                    <a:pt x="243311" y="919057"/>
                  </a:cubicBezTo>
                  <a:cubicBezTo>
                    <a:pt x="216582" y="945787"/>
                    <a:pt x="180329" y="960803"/>
                    <a:pt x="142528" y="960803"/>
                  </a:cubicBezTo>
                  <a:lnTo>
                    <a:pt x="142528" y="960803"/>
                  </a:lnTo>
                  <a:cubicBezTo>
                    <a:pt x="104728" y="960803"/>
                    <a:pt x="68475" y="945787"/>
                    <a:pt x="41746" y="919057"/>
                  </a:cubicBezTo>
                  <a:cubicBezTo>
                    <a:pt x="15016" y="892328"/>
                    <a:pt x="0" y="856075"/>
                    <a:pt x="0" y="818274"/>
                  </a:cubicBezTo>
                  <a:lnTo>
                    <a:pt x="0" y="142528"/>
                  </a:lnTo>
                  <a:cubicBezTo>
                    <a:pt x="0" y="104728"/>
                    <a:pt x="15016" y="68475"/>
                    <a:pt x="41746" y="41746"/>
                  </a:cubicBezTo>
                  <a:cubicBezTo>
                    <a:pt x="68475" y="15016"/>
                    <a:pt x="104728" y="0"/>
                    <a:pt x="142528" y="0"/>
                  </a:cubicBezTo>
                  <a:close/>
                </a:path>
              </a:pathLst>
            </a:custGeom>
            <a:solidFill>
              <a:srgbClr val="A7C362"/>
            </a:solidFill>
          </p:spPr>
        </p:sp>
        <p:sp>
          <p:nvSpPr>
            <p:cNvPr name="TextBox 6" id="6"/>
            <p:cNvSpPr txBox="true"/>
            <p:nvPr/>
          </p:nvSpPr>
          <p:spPr>
            <a:xfrm>
              <a:off x="0" y="-47625"/>
              <a:ext cx="285057" cy="100842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7" id="7"/>
          <p:cNvGrpSpPr/>
          <p:nvPr/>
        </p:nvGrpSpPr>
        <p:grpSpPr>
          <a:xfrm rot="-5400000">
            <a:off x="-541163" y="1317178"/>
            <a:ext cx="1082326" cy="3648049"/>
            <a:chOff x="0" y="0"/>
            <a:chExt cx="285057" cy="960803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285057" cy="960803"/>
            </a:xfrm>
            <a:custGeom>
              <a:avLst/>
              <a:gdLst/>
              <a:ahLst/>
              <a:cxnLst/>
              <a:rect r="r" b="b" t="t" l="l"/>
              <a:pathLst>
                <a:path h="960803" w="285057">
                  <a:moveTo>
                    <a:pt x="142528" y="0"/>
                  </a:moveTo>
                  <a:lnTo>
                    <a:pt x="142528" y="0"/>
                  </a:lnTo>
                  <a:cubicBezTo>
                    <a:pt x="221245" y="0"/>
                    <a:pt x="285057" y="63812"/>
                    <a:pt x="285057" y="142528"/>
                  </a:cubicBezTo>
                  <a:lnTo>
                    <a:pt x="285057" y="818274"/>
                  </a:lnTo>
                  <a:cubicBezTo>
                    <a:pt x="285057" y="856075"/>
                    <a:pt x="270041" y="892328"/>
                    <a:pt x="243311" y="919057"/>
                  </a:cubicBezTo>
                  <a:cubicBezTo>
                    <a:pt x="216582" y="945787"/>
                    <a:pt x="180329" y="960803"/>
                    <a:pt x="142528" y="960803"/>
                  </a:cubicBezTo>
                  <a:lnTo>
                    <a:pt x="142528" y="960803"/>
                  </a:lnTo>
                  <a:cubicBezTo>
                    <a:pt x="104728" y="960803"/>
                    <a:pt x="68475" y="945787"/>
                    <a:pt x="41746" y="919057"/>
                  </a:cubicBezTo>
                  <a:cubicBezTo>
                    <a:pt x="15016" y="892328"/>
                    <a:pt x="0" y="856075"/>
                    <a:pt x="0" y="818274"/>
                  </a:cubicBezTo>
                  <a:lnTo>
                    <a:pt x="0" y="142528"/>
                  </a:lnTo>
                  <a:cubicBezTo>
                    <a:pt x="0" y="104728"/>
                    <a:pt x="15016" y="68475"/>
                    <a:pt x="41746" y="41746"/>
                  </a:cubicBezTo>
                  <a:cubicBezTo>
                    <a:pt x="68475" y="15016"/>
                    <a:pt x="104728" y="0"/>
                    <a:pt x="142528" y="0"/>
                  </a:cubicBezTo>
                  <a:close/>
                </a:path>
              </a:pathLst>
            </a:custGeom>
            <a:solidFill>
              <a:srgbClr val="A7C362"/>
            </a:solidFill>
          </p:spPr>
        </p:sp>
        <p:sp>
          <p:nvSpPr>
            <p:cNvPr name="TextBox 9" id="9"/>
            <p:cNvSpPr txBox="true"/>
            <p:nvPr/>
          </p:nvSpPr>
          <p:spPr>
            <a:xfrm>
              <a:off x="0" y="-47625"/>
              <a:ext cx="285057" cy="100842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10" id="10"/>
          <p:cNvGrpSpPr/>
          <p:nvPr/>
        </p:nvGrpSpPr>
        <p:grpSpPr>
          <a:xfrm rot="-5400000">
            <a:off x="17746837" y="5920330"/>
            <a:ext cx="1082326" cy="3648049"/>
            <a:chOff x="0" y="0"/>
            <a:chExt cx="285057" cy="960803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285057" cy="960803"/>
            </a:xfrm>
            <a:custGeom>
              <a:avLst/>
              <a:gdLst/>
              <a:ahLst/>
              <a:cxnLst/>
              <a:rect r="r" b="b" t="t" l="l"/>
              <a:pathLst>
                <a:path h="960803" w="285057">
                  <a:moveTo>
                    <a:pt x="142528" y="0"/>
                  </a:moveTo>
                  <a:lnTo>
                    <a:pt x="142528" y="0"/>
                  </a:lnTo>
                  <a:cubicBezTo>
                    <a:pt x="221245" y="0"/>
                    <a:pt x="285057" y="63812"/>
                    <a:pt x="285057" y="142528"/>
                  </a:cubicBezTo>
                  <a:lnTo>
                    <a:pt x="285057" y="818274"/>
                  </a:lnTo>
                  <a:cubicBezTo>
                    <a:pt x="285057" y="856075"/>
                    <a:pt x="270041" y="892328"/>
                    <a:pt x="243311" y="919057"/>
                  </a:cubicBezTo>
                  <a:cubicBezTo>
                    <a:pt x="216582" y="945787"/>
                    <a:pt x="180329" y="960803"/>
                    <a:pt x="142528" y="960803"/>
                  </a:cubicBezTo>
                  <a:lnTo>
                    <a:pt x="142528" y="960803"/>
                  </a:lnTo>
                  <a:cubicBezTo>
                    <a:pt x="104728" y="960803"/>
                    <a:pt x="68475" y="945787"/>
                    <a:pt x="41746" y="919057"/>
                  </a:cubicBezTo>
                  <a:cubicBezTo>
                    <a:pt x="15016" y="892328"/>
                    <a:pt x="0" y="856075"/>
                    <a:pt x="0" y="818274"/>
                  </a:cubicBezTo>
                  <a:lnTo>
                    <a:pt x="0" y="142528"/>
                  </a:lnTo>
                  <a:cubicBezTo>
                    <a:pt x="0" y="104728"/>
                    <a:pt x="15016" y="68475"/>
                    <a:pt x="41746" y="41746"/>
                  </a:cubicBezTo>
                  <a:cubicBezTo>
                    <a:pt x="68475" y="15016"/>
                    <a:pt x="104728" y="0"/>
                    <a:pt x="142528" y="0"/>
                  </a:cubicBezTo>
                  <a:close/>
                </a:path>
              </a:pathLst>
            </a:custGeom>
            <a:solidFill>
              <a:srgbClr val="A7C362"/>
            </a:solidFill>
          </p:spPr>
        </p:sp>
        <p:sp>
          <p:nvSpPr>
            <p:cNvPr name="TextBox 12" id="12"/>
            <p:cNvSpPr txBox="true"/>
            <p:nvPr/>
          </p:nvSpPr>
          <p:spPr>
            <a:xfrm>
              <a:off x="0" y="-47625"/>
              <a:ext cx="285057" cy="100842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13" id="13"/>
          <p:cNvGrpSpPr/>
          <p:nvPr/>
        </p:nvGrpSpPr>
        <p:grpSpPr>
          <a:xfrm rot="-5400000">
            <a:off x="16441775" y="7434276"/>
            <a:ext cx="1082326" cy="3648049"/>
            <a:chOff x="0" y="0"/>
            <a:chExt cx="285057" cy="960803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285057" cy="960803"/>
            </a:xfrm>
            <a:custGeom>
              <a:avLst/>
              <a:gdLst/>
              <a:ahLst/>
              <a:cxnLst/>
              <a:rect r="r" b="b" t="t" l="l"/>
              <a:pathLst>
                <a:path h="960803" w="285057">
                  <a:moveTo>
                    <a:pt x="142528" y="0"/>
                  </a:moveTo>
                  <a:lnTo>
                    <a:pt x="142528" y="0"/>
                  </a:lnTo>
                  <a:cubicBezTo>
                    <a:pt x="221245" y="0"/>
                    <a:pt x="285057" y="63812"/>
                    <a:pt x="285057" y="142528"/>
                  </a:cubicBezTo>
                  <a:lnTo>
                    <a:pt x="285057" y="818274"/>
                  </a:lnTo>
                  <a:cubicBezTo>
                    <a:pt x="285057" y="856075"/>
                    <a:pt x="270041" y="892328"/>
                    <a:pt x="243311" y="919057"/>
                  </a:cubicBezTo>
                  <a:cubicBezTo>
                    <a:pt x="216582" y="945787"/>
                    <a:pt x="180329" y="960803"/>
                    <a:pt x="142528" y="960803"/>
                  </a:cubicBezTo>
                  <a:lnTo>
                    <a:pt x="142528" y="960803"/>
                  </a:lnTo>
                  <a:cubicBezTo>
                    <a:pt x="104728" y="960803"/>
                    <a:pt x="68475" y="945787"/>
                    <a:pt x="41746" y="919057"/>
                  </a:cubicBezTo>
                  <a:cubicBezTo>
                    <a:pt x="15016" y="892328"/>
                    <a:pt x="0" y="856075"/>
                    <a:pt x="0" y="818274"/>
                  </a:cubicBezTo>
                  <a:lnTo>
                    <a:pt x="0" y="142528"/>
                  </a:lnTo>
                  <a:cubicBezTo>
                    <a:pt x="0" y="104728"/>
                    <a:pt x="15016" y="68475"/>
                    <a:pt x="41746" y="41746"/>
                  </a:cubicBezTo>
                  <a:cubicBezTo>
                    <a:pt x="68475" y="15016"/>
                    <a:pt x="104728" y="0"/>
                    <a:pt x="142528" y="0"/>
                  </a:cubicBezTo>
                  <a:close/>
                </a:path>
              </a:pathLst>
            </a:custGeom>
            <a:solidFill>
              <a:srgbClr val="A7C362"/>
            </a:solidFill>
          </p:spPr>
        </p:sp>
        <p:sp>
          <p:nvSpPr>
            <p:cNvPr name="TextBox 15" id="15"/>
            <p:cNvSpPr txBox="true"/>
            <p:nvPr/>
          </p:nvSpPr>
          <p:spPr>
            <a:xfrm>
              <a:off x="0" y="-47625"/>
              <a:ext cx="285057" cy="100842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3306345" y="4886855"/>
            <a:ext cx="12029827" cy="23812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539751" indent="-269876" lvl="1">
              <a:lnSpc>
                <a:spcPts val="3750"/>
              </a:lnSpc>
              <a:buFont typeface="Arial"/>
              <a:buChar char="•"/>
            </a:pPr>
            <a:r>
              <a:rPr lang="en-US" sz="2500">
                <a:solidFill>
                  <a:srgbClr val="08105E"/>
                </a:solidFill>
                <a:latin typeface="Poppins"/>
                <a:ea typeface="Poppins"/>
                <a:cs typeface="Poppins"/>
                <a:sym typeface="Poppins"/>
              </a:rPr>
              <a:t>N</a:t>
            </a:r>
            <a:r>
              <a:rPr lang="en-US" sz="2500">
                <a:solidFill>
                  <a:srgbClr val="08105E"/>
                </a:solidFill>
                <a:latin typeface="Poppins"/>
                <a:ea typeface="Poppins"/>
                <a:cs typeface="Poppins"/>
                <a:sym typeface="Poppins"/>
              </a:rPr>
              <a:t>o se incluye la instalación física de portones ni cámaras; el proyecto se limita al desarrollo del sistema.</a:t>
            </a:r>
          </a:p>
          <a:p>
            <a:pPr algn="just" marL="539751" indent="-269876" lvl="1">
              <a:lnSpc>
                <a:spcPts val="3750"/>
              </a:lnSpc>
              <a:buFont typeface="Arial"/>
              <a:buChar char="•"/>
            </a:pPr>
            <a:r>
              <a:rPr lang="en-US" sz="2500">
                <a:solidFill>
                  <a:srgbClr val="08105E"/>
                </a:solidFill>
                <a:latin typeface="Poppins"/>
                <a:ea typeface="Poppins"/>
                <a:cs typeface="Poppins"/>
                <a:sym typeface="Poppins"/>
              </a:rPr>
              <a:t>No se contempla integración con sistemas de seguridad externos.</a:t>
            </a:r>
          </a:p>
          <a:p>
            <a:pPr algn="just">
              <a:lnSpc>
                <a:spcPts val="3750"/>
              </a:lnSpc>
            </a:pPr>
          </a:p>
          <a:p>
            <a:pPr algn="just">
              <a:lnSpc>
                <a:spcPts val="3750"/>
              </a:lnSpc>
            </a:pPr>
          </a:p>
        </p:txBody>
      </p:sp>
      <p:sp>
        <p:nvSpPr>
          <p:cNvPr name="TextBox 3" id="3"/>
          <p:cNvSpPr txBox="true"/>
          <p:nvPr/>
        </p:nvSpPr>
        <p:spPr>
          <a:xfrm rot="0">
            <a:off x="3711594" y="2044351"/>
            <a:ext cx="10864811" cy="103127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7625"/>
              </a:lnSpc>
              <a:spcBef>
                <a:spcPct val="0"/>
              </a:spcBef>
            </a:pPr>
            <a:r>
              <a:rPr lang="en-US" b="true" sz="6354">
                <a:solidFill>
                  <a:srgbClr val="08105E"/>
                </a:solidFill>
                <a:latin typeface="Poppins Bold"/>
                <a:ea typeface="Poppins Bold"/>
                <a:cs typeface="Poppins Bold"/>
                <a:sym typeface="Poppins Bold"/>
              </a:rPr>
              <a:t>Limitaciones del proyecto</a:t>
            </a:r>
          </a:p>
        </p:txBody>
      </p:sp>
      <p:grpSp>
        <p:nvGrpSpPr>
          <p:cNvPr name="Group 4" id="4"/>
          <p:cNvGrpSpPr/>
          <p:nvPr/>
        </p:nvGrpSpPr>
        <p:grpSpPr>
          <a:xfrm rot="-5400000">
            <a:off x="763899" y="-254162"/>
            <a:ext cx="1082326" cy="3648049"/>
            <a:chOff x="0" y="0"/>
            <a:chExt cx="285057" cy="960803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85057" cy="960803"/>
            </a:xfrm>
            <a:custGeom>
              <a:avLst/>
              <a:gdLst/>
              <a:ahLst/>
              <a:cxnLst/>
              <a:rect r="r" b="b" t="t" l="l"/>
              <a:pathLst>
                <a:path h="960803" w="285057">
                  <a:moveTo>
                    <a:pt x="142528" y="0"/>
                  </a:moveTo>
                  <a:lnTo>
                    <a:pt x="142528" y="0"/>
                  </a:lnTo>
                  <a:cubicBezTo>
                    <a:pt x="221245" y="0"/>
                    <a:pt x="285057" y="63812"/>
                    <a:pt x="285057" y="142528"/>
                  </a:cubicBezTo>
                  <a:lnTo>
                    <a:pt x="285057" y="818274"/>
                  </a:lnTo>
                  <a:cubicBezTo>
                    <a:pt x="285057" y="856075"/>
                    <a:pt x="270041" y="892328"/>
                    <a:pt x="243311" y="919057"/>
                  </a:cubicBezTo>
                  <a:cubicBezTo>
                    <a:pt x="216582" y="945787"/>
                    <a:pt x="180329" y="960803"/>
                    <a:pt x="142528" y="960803"/>
                  </a:cubicBezTo>
                  <a:lnTo>
                    <a:pt x="142528" y="960803"/>
                  </a:lnTo>
                  <a:cubicBezTo>
                    <a:pt x="104728" y="960803"/>
                    <a:pt x="68475" y="945787"/>
                    <a:pt x="41746" y="919057"/>
                  </a:cubicBezTo>
                  <a:cubicBezTo>
                    <a:pt x="15016" y="892328"/>
                    <a:pt x="0" y="856075"/>
                    <a:pt x="0" y="818274"/>
                  </a:cubicBezTo>
                  <a:lnTo>
                    <a:pt x="0" y="142528"/>
                  </a:lnTo>
                  <a:cubicBezTo>
                    <a:pt x="0" y="104728"/>
                    <a:pt x="15016" y="68475"/>
                    <a:pt x="41746" y="41746"/>
                  </a:cubicBezTo>
                  <a:cubicBezTo>
                    <a:pt x="68475" y="15016"/>
                    <a:pt x="104728" y="0"/>
                    <a:pt x="142528" y="0"/>
                  </a:cubicBezTo>
                  <a:close/>
                </a:path>
              </a:pathLst>
            </a:custGeom>
            <a:solidFill>
              <a:srgbClr val="A7C362"/>
            </a:solidFill>
          </p:spPr>
        </p:sp>
        <p:sp>
          <p:nvSpPr>
            <p:cNvPr name="TextBox 6" id="6"/>
            <p:cNvSpPr txBox="true"/>
            <p:nvPr/>
          </p:nvSpPr>
          <p:spPr>
            <a:xfrm>
              <a:off x="0" y="-47625"/>
              <a:ext cx="285057" cy="100842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7" id="7"/>
          <p:cNvGrpSpPr/>
          <p:nvPr/>
        </p:nvGrpSpPr>
        <p:grpSpPr>
          <a:xfrm rot="-5400000">
            <a:off x="-541163" y="1317178"/>
            <a:ext cx="1082326" cy="3648049"/>
            <a:chOff x="0" y="0"/>
            <a:chExt cx="285057" cy="960803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285057" cy="960803"/>
            </a:xfrm>
            <a:custGeom>
              <a:avLst/>
              <a:gdLst/>
              <a:ahLst/>
              <a:cxnLst/>
              <a:rect r="r" b="b" t="t" l="l"/>
              <a:pathLst>
                <a:path h="960803" w="285057">
                  <a:moveTo>
                    <a:pt x="142528" y="0"/>
                  </a:moveTo>
                  <a:lnTo>
                    <a:pt x="142528" y="0"/>
                  </a:lnTo>
                  <a:cubicBezTo>
                    <a:pt x="221245" y="0"/>
                    <a:pt x="285057" y="63812"/>
                    <a:pt x="285057" y="142528"/>
                  </a:cubicBezTo>
                  <a:lnTo>
                    <a:pt x="285057" y="818274"/>
                  </a:lnTo>
                  <a:cubicBezTo>
                    <a:pt x="285057" y="856075"/>
                    <a:pt x="270041" y="892328"/>
                    <a:pt x="243311" y="919057"/>
                  </a:cubicBezTo>
                  <a:cubicBezTo>
                    <a:pt x="216582" y="945787"/>
                    <a:pt x="180329" y="960803"/>
                    <a:pt x="142528" y="960803"/>
                  </a:cubicBezTo>
                  <a:lnTo>
                    <a:pt x="142528" y="960803"/>
                  </a:lnTo>
                  <a:cubicBezTo>
                    <a:pt x="104728" y="960803"/>
                    <a:pt x="68475" y="945787"/>
                    <a:pt x="41746" y="919057"/>
                  </a:cubicBezTo>
                  <a:cubicBezTo>
                    <a:pt x="15016" y="892328"/>
                    <a:pt x="0" y="856075"/>
                    <a:pt x="0" y="818274"/>
                  </a:cubicBezTo>
                  <a:lnTo>
                    <a:pt x="0" y="142528"/>
                  </a:lnTo>
                  <a:cubicBezTo>
                    <a:pt x="0" y="104728"/>
                    <a:pt x="15016" y="68475"/>
                    <a:pt x="41746" y="41746"/>
                  </a:cubicBezTo>
                  <a:cubicBezTo>
                    <a:pt x="68475" y="15016"/>
                    <a:pt x="104728" y="0"/>
                    <a:pt x="142528" y="0"/>
                  </a:cubicBezTo>
                  <a:close/>
                </a:path>
              </a:pathLst>
            </a:custGeom>
            <a:solidFill>
              <a:srgbClr val="A7C362"/>
            </a:solidFill>
          </p:spPr>
        </p:sp>
        <p:sp>
          <p:nvSpPr>
            <p:cNvPr name="TextBox 9" id="9"/>
            <p:cNvSpPr txBox="true"/>
            <p:nvPr/>
          </p:nvSpPr>
          <p:spPr>
            <a:xfrm>
              <a:off x="0" y="-47625"/>
              <a:ext cx="285057" cy="100842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10" id="10"/>
          <p:cNvGrpSpPr/>
          <p:nvPr/>
        </p:nvGrpSpPr>
        <p:grpSpPr>
          <a:xfrm rot="-5400000">
            <a:off x="17746837" y="5920330"/>
            <a:ext cx="1082326" cy="3648049"/>
            <a:chOff x="0" y="0"/>
            <a:chExt cx="285057" cy="960803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285057" cy="960803"/>
            </a:xfrm>
            <a:custGeom>
              <a:avLst/>
              <a:gdLst/>
              <a:ahLst/>
              <a:cxnLst/>
              <a:rect r="r" b="b" t="t" l="l"/>
              <a:pathLst>
                <a:path h="960803" w="285057">
                  <a:moveTo>
                    <a:pt x="142528" y="0"/>
                  </a:moveTo>
                  <a:lnTo>
                    <a:pt x="142528" y="0"/>
                  </a:lnTo>
                  <a:cubicBezTo>
                    <a:pt x="221245" y="0"/>
                    <a:pt x="285057" y="63812"/>
                    <a:pt x="285057" y="142528"/>
                  </a:cubicBezTo>
                  <a:lnTo>
                    <a:pt x="285057" y="818274"/>
                  </a:lnTo>
                  <a:cubicBezTo>
                    <a:pt x="285057" y="856075"/>
                    <a:pt x="270041" y="892328"/>
                    <a:pt x="243311" y="919057"/>
                  </a:cubicBezTo>
                  <a:cubicBezTo>
                    <a:pt x="216582" y="945787"/>
                    <a:pt x="180329" y="960803"/>
                    <a:pt x="142528" y="960803"/>
                  </a:cubicBezTo>
                  <a:lnTo>
                    <a:pt x="142528" y="960803"/>
                  </a:lnTo>
                  <a:cubicBezTo>
                    <a:pt x="104728" y="960803"/>
                    <a:pt x="68475" y="945787"/>
                    <a:pt x="41746" y="919057"/>
                  </a:cubicBezTo>
                  <a:cubicBezTo>
                    <a:pt x="15016" y="892328"/>
                    <a:pt x="0" y="856075"/>
                    <a:pt x="0" y="818274"/>
                  </a:cubicBezTo>
                  <a:lnTo>
                    <a:pt x="0" y="142528"/>
                  </a:lnTo>
                  <a:cubicBezTo>
                    <a:pt x="0" y="104728"/>
                    <a:pt x="15016" y="68475"/>
                    <a:pt x="41746" y="41746"/>
                  </a:cubicBezTo>
                  <a:cubicBezTo>
                    <a:pt x="68475" y="15016"/>
                    <a:pt x="104728" y="0"/>
                    <a:pt x="142528" y="0"/>
                  </a:cubicBezTo>
                  <a:close/>
                </a:path>
              </a:pathLst>
            </a:custGeom>
            <a:solidFill>
              <a:srgbClr val="A7C362"/>
            </a:solidFill>
          </p:spPr>
        </p:sp>
        <p:sp>
          <p:nvSpPr>
            <p:cNvPr name="TextBox 12" id="12"/>
            <p:cNvSpPr txBox="true"/>
            <p:nvPr/>
          </p:nvSpPr>
          <p:spPr>
            <a:xfrm>
              <a:off x="0" y="-47625"/>
              <a:ext cx="285057" cy="100842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13" id="13"/>
          <p:cNvGrpSpPr/>
          <p:nvPr/>
        </p:nvGrpSpPr>
        <p:grpSpPr>
          <a:xfrm rot="-5400000">
            <a:off x="16441775" y="7434276"/>
            <a:ext cx="1082326" cy="3648049"/>
            <a:chOff x="0" y="0"/>
            <a:chExt cx="285057" cy="960803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285057" cy="960803"/>
            </a:xfrm>
            <a:custGeom>
              <a:avLst/>
              <a:gdLst/>
              <a:ahLst/>
              <a:cxnLst/>
              <a:rect r="r" b="b" t="t" l="l"/>
              <a:pathLst>
                <a:path h="960803" w="285057">
                  <a:moveTo>
                    <a:pt x="142528" y="0"/>
                  </a:moveTo>
                  <a:lnTo>
                    <a:pt x="142528" y="0"/>
                  </a:lnTo>
                  <a:cubicBezTo>
                    <a:pt x="221245" y="0"/>
                    <a:pt x="285057" y="63812"/>
                    <a:pt x="285057" y="142528"/>
                  </a:cubicBezTo>
                  <a:lnTo>
                    <a:pt x="285057" y="818274"/>
                  </a:lnTo>
                  <a:cubicBezTo>
                    <a:pt x="285057" y="856075"/>
                    <a:pt x="270041" y="892328"/>
                    <a:pt x="243311" y="919057"/>
                  </a:cubicBezTo>
                  <a:cubicBezTo>
                    <a:pt x="216582" y="945787"/>
                    <a:pt x="180329" y="960803"/>
                    <a:pt x="142528" y="960803"/>
                  </a:cubicBezTo>
                  <a:lnTo>
                    <a:pt x="142528" y="960803"/>
                  </a:lnTo>
                  <a:cubicBezTo>
                    <a:pt x="104728" y="960803"/>
                    <a:pt x="68475" y="945787"/>
                    <a:pt x="41746" y="919057"/>
                  </a:cubicBezTo>
                  <a:cubicBezTo>
                    <a:pt x="15016" y="892328"/>
                    <a:pt x="0" y="856075"/>
                    <a:pt x="0" y="818274"/>
                  </a:cubicBezTo>
                  <a:lnTo>
                    <a:pt x="0" y="142528"/>
                  </a:lnTo>
                  <a:cubicBezTo>
                    <a:pt x="0" y="104728"/>
                    <a:pt x="15016" y="68475"/>
                    <a:pt x="41746" y="41746"/>
                  </a:cubicBezTo>
                  <a:cubicBezTo>
                    <a:pt x="68475" y="15016"/>
                    <a:pt x="104728" y="0"/>
                    <a:pt x="142528" y="0"/>
                  </a:cubicBezTo>
                  <a:close/>
                </a:path>
              </a:pathLst>
            </a:custGeom>
            <a:solidFill>
              <a:srgbClr val="A7C362"/>
            </a:solidFill>
          </p:spPr>
        </p:sp>
        <p:sp>
          <p:nvSpPr>
            <p:cNvPr name="TextBox 15" id="15"/>
            <p:cNvSpPr txBox="true"/>
            <p:nvPr/>
          </p:nvSpPr>
          <p:spPr>
            <a:xfrm>
              <a:off x="0" y="-47625"/>
              <a:ext cx="285057" cy="100842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-5400000">
            <a:off x="763899" y="-254162"/>
            <a:ext cx="1082326" cy="3648049"/>
            <a:chOff x="0" y="0"/>
            <a:chExt cx="285057" cy="960803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85057" cy="960803"/>
            </a:xfrm>
            <a:custGeom>
              <a:avLst/>
              <a:gdLst/>
              <a:ahLst/>
              <a:cxnLst/>
              <a:rect r="r" b="b" t="t" l="l"/>
              <a:pathLst>
                <a:path h="960803" w="285057">
                  <a:moveTo>
                    <a:pt x="142528" y="0"/>
                  </a:moveTo>
                  <a:lnTo>
                    <a:pt x="142528" y="0"/>
                  </a:lnTo>
                  <a:cubicBezTo>
                    <a:pt x="221245" y="0"/>
                    <a:pt x="285057" y="63812"/>
                    <a:pt x="285057" y="142528"/>
                  </a:cubicBezTo>
                  <a:lnTo>
                    <a:pt x="285057" y="818274"/>
                  </a:lnTo>
                  <a:cubicBezTo>
                    <a:pt x="285057" y="856075"/>
                    <a:pt x="270041" y="892328"/>
                    <a:pt x="243311" y="919057"/>
                  </a:cubicBezTo>
                  <a:cubicBezTo>
                    <a:pt x="216582" y="945787"/>
                    <a:pt x="180329" y="960803"/>
                    <a:pt x="142528" y="960803"/>
                  </a:cubicBezTo>
                  <a:lnTo>
                    <a:pt x="142528" y="960803"/>
                  </a:lnTo>
                  <a:cubicBezTo>
                    <a:pt x="104728" y="960803"/>
                    <a:pt x="68475" y="945787"/>
                    <a:pt x="41746" y="919057"/>
                  </a:cubicBezTo>
                  <a:cubicBezTo>
                    <a:pt x="15016" y="892328"/>
                    <a:pt x="0" y="856075"/>
                    <a:pt x="0" y="818274"/>
                  </a:cubicBezTo>
                  <a:lnTo>
                    <a:pt x="0" y="142528"/>
                  </a:lnTo>
                  <a:cubicBezTo>
                    <a:pt x="0" y="104728"/>
                    <a:pt x="15016" y="68475"/>
                    <a:pt x="41746" y="41746"/>
                  </a:cubicBezTo>
                  <a:cubicBezTo>
                    <a:pt x="68475" y="15016"/>
                    <a:pt x="104728" y="0"/>
                    <a:pt x="142528" y="0"/>
                  </a:cubicBezTo>
                  <a:close/>
                </a:path>
              </a:pathLst>
            </a:custGeom>
            <a:solidFill>
              <a:srgbClr val="A7C362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47625"/>
              <a:ext cx="285057" cy="100842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-5400000">
            <a:off x="-541163" y="1317178"/>
            <a:ext cx="1082326" cy="3648049"/>
            <a:chOff x="0" y="0"/>
            <a:chExt cx="285057" cy="960803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285057" cy="960803"/>
            </a:xfrm>
            <a:custGeom>
              <a:avLst/>
              <a:gdLst/>
              <a:ahLst/>
              <a:cxnLst/>
              <a:rect r="r" b="b" t="t" l="l"/>
              <a:pathLst>
                <a:path h="960803" w="285057">
                  <a:moveTo>
                    <a:pt x="142528" y="0"/>
                  </a:moveTo>
                  <a:lnTo>
                    <a:pt x="142528" y="0"/>
                  </a:lnTo>
                  <a:cubicBezTo>
                    <a:pt x="221245" y="0"/>
                    <a:pt x="285057" y="63812"/>
                    <a:pt x="285057" y="142528"/>
                  </a:cubicBezTo>
                  <a:lnTo>
                    <a:pt x="285057" y="818274"/>
                  </a:lnTo>
                  <a:cubicBezTo>
                    <a:pt x="285057" y="856075"/>
                    <a:pt x="270041" y="892328"/>
                    <a:pt x="243311" y="919057"/>
                  </a:cubicBezTo>
                  <a:cubicBezTo>
                    <a:pt x="216582" y="945787"/>
                    <a:pt x="180329" y="960803"/>
                    <a:pt x="142528" y="960803"/>
                  </a:cubicBezTo>
                  <a:lnTo>
                    <a:pt x="142528" y="960803"/>
                  </a:lnTo>
                  <a:cubicBezTo>
                    <a:pt x="104728" y="960803"/>
                    <a:pt x="68475" y="945787"/>
                    <a:pt x="41746" y="919057"/>
                  </a:cubicBezTo>
                  <a:cubicBezTo>
                    <a:pt x="15016" y="892328"/>
                    <a:pt x="0" y="856075"/>
                    <a:pt x="0" y="818274"/>
                  </a:cubicBezTo>
                  <a:lnTo>
                    <a:pt x="0" y="142528"/>
                  </a:lnTo>
                  <a:cubicBezTo>
                    <a:pt x="0" y="104728"/>
                    <a:pt x="15016" y="68475"/>
                    <a:pt x="41746" y="41746"/>
                  </a:cubicBezTo>
                  <a:cubicBezTo>
                    <a:pt x="68475" y="15016"/>
                    <a:pt x="104728" y="0"/>
                    <a:pt x="142528" y="0"/>
                  </a:cubicBezTo>
                  <a:close/>
                </a:path>
              </a:pathLst>
            </a:custGeom>
            <a:solidFill>
              <a:srgbClr val="A7C362"/>
            </a:solidFill>
          </p:spPr>
        </p:sp>
        <p:sp>
          <p:nvSpPr>
            <p:cNvPr name="TextBox 7" id="7"/>
            <p:cNvSpPr txBox="true"/>
            <p:nvPr/>
          </p:nvSpPr>
          <p:spPr>
            <a:xfrm>
              <a:off x="0" y="-47625"/>
              <a:ext cx="285057" cy="100842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8" id="8"/>
          <p:cNvGrpSpPr/>
          <p:nvPr/>
        </p:nvGrpSpPr>
        <p:grpSpPr>
          <a:xfrm rot="-5400000">
            <a:off x="17746837" y="5920330"/>
            <a:ext cx="1082326" cy="3648049"/>
            <a:chOff x="0" y="0"/>
            <a:chExt cx="285057" cy="960803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285057" cy="960803"/>
            </a:xfrm>
            <a:custGeom>
              <a:avLst/>
              <a:gdLst/>
              <a:ahLst/>
              <a:cxnLst/>
              <a:rect r="r" b="b" t="t" l="l"/>
              <a:pathLst>
                <a:path h="960803" w="285057">
                  <a:moveTo>
                    <a:pt x="142528" y="0"/>
                  </a:moveTo>
                  <a:lnTo>
                    <a:pt x="142528" y="0"/>
                  </a:lnTo>
                  <a:cubicBezTo>
                    <a:pt x="221245" y="0"/>
                    <a:pt x="285057" y="63812"/>
                    <a:pt x="285057" y="142528"/>
                  </a:cubicBezTo>
                  <a:lnTo>
                    <a:pt x="285057" y="818274"/>
                  </a:lnTo>
                  <a:cubicBezTo>
                    <a:pt x="285057" y="856075"/>
                    <a:pt x="270041" y="892328"/>
                    <a:pt x="243311" y="919057"/>
                  </a:cubicBezTo>
                  <a:cubicBezTo>
                    <a:pt x="216582" y="945787"/>
                    <a:pt x="180329" y="960803"/>
                    <a:pt x="142528" y="960803"/>
                  </a:cubicBezTo>
                  <a:lnTo>
                    <a:pt x="142528" y="960803"/>
                  </a:lnTo>
                  <a:cubicBezTo>
                    <a:pt x="104728" y="960803"/>
                    <a:pt x="68475" y="945787"/>
                    <a:pt x="41746" y="919057"/>
                  </a:cubicBezTo>
                  <a:cubicBezTo>
                    <a:pt x="15016" y="892328"/>
                    <a:pt x="0" y="856075"/>
                    <a:pt x="0" y="818274"/>
                  </a:cubicBezTo>
                  <a:lnTo>
                    <a:pt x="0" y="142528"/>
                  </a:lnTo>
                  <a:cubicBezTo>
                    <a:pt x="0" y="104728"/>
                    <a:pt x="15016" y="68475"/>
                    <a:pt x="41746" y="41746"/>
                  </a:cubicBezTo>
                  <a:cubicBezTo>
                    <a:pt x="68475" y="15016"/>
                    <a:pt x="104728" y="0"/>
                    <a:pt x="142528" y="0"/>
                  </a:cubicBezTo>
                  <a:close/>
                </a:path>
              </a:pathLst>
            </a:custGeom>
            <a:solidFill>
              <a:srgbClr val="A7C362"/>
            </a:solidFill>
          </p:spPr>
        </p:sp>
        <p:sp>
          <p:nvSpPr>
            <p:cNvPr name="TextBox 10" id="10"/>
            <p:cNvSpPr txBox="true"/>
            <p:nvPr/>
          </p:nvSpPr>
          <p:spPr>
            <a:xfrm>
              <a:off x="0" y="-47625"/>
              <a:ext cx="285057" cy="100842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11" id="11"/>
          <p:cNvGrpSpPr/>
          <p:nvPr/>
        </p:nvGrpSpPr>
        <p:grpSpPr>
          <a:xfrm rot="-5400000">
            <a:off x="16441775" y="7434276"/>
            <a:ext cx="1082326" cy="3648049"/>
            <a:chOff x="0" y="0"/>
            <a:chExt cx="285057" cy="960803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285057" cy="960803"/>
            </a:xfrm>
            <a:custGeom>
              <a:avLst/>
              <a:gdLst/>
              <a:ahLst/>
              <a:cxnLst/>
              <a:rect r="r" b="b" t="t" l="l"/>
              <a:pathLst>
                <a:path h="960803" w="285057">
                  <a:moveTo>
                    <a:pt x="142528" y="0"/>
                  </a:moveTo>
                  <a:lnTo>
                    <a:pt x="142528" y="0"/>
                  </a:lnTo>
                  <a:cubicBezTo>
                    <a:pt x="221245" y="0"/>
                    <a:pt x="285057" y="63812"/>
                    <a:pt x="285057" y="142528"/>
                  </a:cubicBezTo>
                  <a:lnTo>
                    <a:pt x="285057" y="818274"/>
                  </a:lnTo>
                  <a:cubicBezTo>
                    <a:pt x="285057" y="856075"/>
                    <a:pt x="270041" y="892328"/>
                    <a:pt x="243311" y="919057"/>
                  </a:cubicBezTo>
                  <a:cubicBezTo>
                    <a:pt x="216582" y="945787"/>
                    <a:pt x="180329" y="960803"/>
                    <a:pt x="142528" y="960803"/>
                  </a:cubicBezTo>
                  <a:lnTo>
                    <a:pt x="142528" y="960803"/>
                  </a:lnTo>
                  <a:cubicBezTo>
                    <a:pt x="104728" y="960803"/>
                    <a:pt x="68475" y="945787"/>
                    <a:pt x="41746" y="919057"/>
                  </a:cubicBezTo>
                  <a:cubicBezTo>
                    <a:pt x="15016" y="892328"/>
                    <a:pt x="0" y="856075"/>
                    <a:pt x="0" y="818274"/>
                  </a:cubicBezTo>
                  <a:lnTo>
                    <a:pt x="0" y="142528"/>
                  </a:lnTo>
                  <a:cubicBezTo>
                    <a:pt x="0" y="104728"/>
                    <a:pt x="15016" y="68475"/>
                    <a:pt x="41746" y="41746"/>
                  </a:cubicBezTo>
                  <a:cubicBezTo>
                    <a:pt x="68475" y="15016"/>
                    <a:pt x="104728" y="0"/>
                    <a:pt x="142528" y="0"/>
                  </a:cubicBezTo>
                  <a:close/>
                </a:path>
              </a:pathLst>
            </a:custGeom>
            <a:solidFill>
              <a:srgbClr val="A7C362"/>
            </a:solidFill>
          </p:spPr>
        </p:sp>
        <p:sp>
          <p:nvSpPr>
            <p:cNvPr name="TextBox 13" id="13"/>
            <p:cNvSpPr txBox="true"/>
            <p:nvPr/>
          </p:nvSpPr>
          <p:spPr>
            <a:xfrm>
              <a:off x="0" y="-47625"/>
              <a:ext cx="285057" cy="100842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aphicFrame>
        <p:nvGraphicFramePr>
          <p:cNvPr name="Object 14" id="14"/>
          <p:cNvGraphicFramePr/>
          <p:nvPr/>
        </p:nvGraphicFramePr>
        <p:xfrm>
          <a:off x="1824024" y="1409242"/>
          <a:ext cx="7543800" cy="2514600"/>
        </p:xfrm>
        <a:graphic>
          <a:graphicData uri="http://schemas.openxmlformats.org/presentationml/2006/ole">
            <p:oleObj imgW="9042400" imgH="4013200" r:id="rId3" progId="Excel.Sheet.12" name="Worksheet">
              <p:embed/>
              <p:pic>
                <p:nvPicPr>
                  <p:cNvPr name="" id="0"/>
                  <p:cNvPicPr/>
                  <p:nvPr/>
                </p:nvPicPr>
                <p:blipFill>
                  <a:blip r:embed="rId2"/>
                  <a:stretch>
                    <a:fillRect/>
                  </a:stretch>
                </p:blipFill>
                <p:spPr>
                  <a:xfrm>
                    <a:off x="1270000" y="1270000"/>
                    <a:ext cx="1270000" cy="1270000"/>
                  </a:xfrm>
                  <a:prstGeom prst="rect"/>
                </p:spPr>
              </p:pic>
            </p:oleObj>
          </a:graphicData>
        </a:graphic>
      </p:graphicFrame>
      <p:sp>
        <p:nvSpPr>
          <p:cNvPr name="TextBox 15" id="15"/>
          <p:cNvSpPr txBox="true"/>
          <p:nvPr/>
        </p:nvSpPr>
        <p:spPr>
          <a:xfrm rot="0">
            <a:off x="1028700" y="558884"/>
            <a:ext cx="6222737" cy="92058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3563"/>
              </a:lnSpc>
              <a:spcBef>
                <a:spcPct val="0"/>
              </a:spcBef>
            </a:pPr>
            <a:r>
              <a:rPr lang="en-US" b="true" sz="2969">
                <a:solidFill>
                  <a:srgbClr val="08105E"/>
                </a:solidFill>
                <a:latin typeface="Poppins Bold"/>
                <a:ea typeface="Poppins Bold"/>
                <a:cs typeface="Poppins Bold"/>
                <a:sym typeface="Poppins Bold"/>
              </a:rPr>
              <a:t>Metodología de trabajo para el desarrollo del proyecto</a:t>
            </a:r>
          </a:p>
        </p:txBody>
      </p: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-5400000">
            <a:off x="763899" y="-254162"/>
            <a:ext cx="1082326" cy="3648049"/>
            <a:chOff x="0" y="0"/>
            <a:chExt cx="285057" cy="960803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85057" cy="960803"/>
            </a:xfrm>
            <a:custGeom>
              <a:avLst/>
              <a:gdLst/>
              <a:ahLst/>
              <a:cxnLst/>
              <a:rect r="r" b="b" t="t" l="l"/>
              <a:pathLst>
                <a:path h="960803" w="285057">
                  <a:moveTo>
                    <a:pt x="142528" y="0"/>
                  </a:moveTo>
                  <a:lnTo>
                    <a:pt x="142528" y="0"/>
                  </a:lnTo>
                  <a:cubicBezTo>
                    <a:pt x="221245" y="0"/>
                    <a:pt x="285057" y="63812"/>
                    <a:pt x="285057" y="142528"/>
                  </a:cubicBezTo>
                  <a:lnTo>
                    <a:pt x="285057" y="818274"/>
                  </a:lnTo>
                  <a:cubicBezTo>
                    <a:pt x="285057" y="856075"/>
                    <a:pt x="270041" y="892328"/>
                    <a:pt x="243311" y="919057"/>
                  </a:cubicBezTo>
                  <a:cubicBezTo>
                    <a:pt x="216582" y="945787"/>
                    <a:pt x="180329" y="960803"/>
                    <a:pt x="142528" y="960803"/>
                  </a:cubicBezTo>
                  <a:lnTo>
                    <a:pt x="142528" y="960803"/>
                  </a:lnTo>
                  <a:cubicBezTo>
                    <a:pt x="104728" y="960803"/>
                    <a:pt x="68475" y="945787"/>
                    <a:pt x="41746" y="919057"/>
                  </a:cubicBezTo>
                  <a:cubicBezTo>
                    <a:pt x="15016" y="892328"/>
                    <a:pt x="0" y="856075"/>
                    <a:pt x="0" y="818274"/>
                  </a:cubicBezTo>
                  <a:lnTo>
                    <a:pt x="0" y="142528"/>
                  </a:lnTo>
                  <a:cubicBezTo>
                    <a:pt x="0" y="104728"/>
                    <a:pt x="15016" y="68475"/>
                    <a:pt x="41746" y="41746"/>
                  </a:cubicBezTo>
                  <a:cubicBezTo>
                    <a:pt x="68475" y="15016"/>
                    <a:pt x="104728" y="0"/>
                    <a:pt x="142528" y="0"/>
                  </a:cubicBezTo>
                  <a:close/>
                </a:path>
              </a:pathLst>
            </a:custGeom>
            <a:solidFill>
              <a:srgbClr val="A7C362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47625"/>
              <a:ext cx="285057" cy="100842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-5400000">
            <a:off x="-541163" y="1317178"/>
            <a:ext cx="1082326" cy="3648049"/>
            <a:chOff x="0" y="0"/>
            <a:chExt cx="285057" cy="960803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285057" cy="960803"/>
            </a:xfrm>
            <a:custGeom>
              <a:avLst/>
              <a:gdLst/>
              <a:ahLst/>
              <a:cxnLst/>
              <a:rect r="r" b="b" t="t" l="l"/>
              <a:pathLst>
                <a:path h="960803" w="285057">
                  <a:moveTo>
                    <a:pt x="142528" y="0"/>
                  </a:moveTo>
                  <a:lnTo>
                    <a:pt x="142528" y="0"/>
                  </a:lnTo>
                  <a:cubicBezTo>
                    <a:pt x="221245" y="0"/>
                    <a:pt x="285057" y="63812"/>
                    <a:pt x="285057" y="142528"/>
                  </a:cubicBezTo>
                  <a:lnTo>
                    <a:pt x="285057" y="818274"/>
                  </a:lnTo>
                  <a:cubicBezTo>
                    <a:pt x="285057" y="856075"/>
                    <a:pt x="270041" y="892328"/>
                    <a:pt x="243311" y="919057"/>
                  </a:cubicBezTo>
                  <a:cubicBezTo>
                    <a:pt x="216582" y="945787"/>
                    <a:pt x="180329" y="960803"/>
                    <a:pt x="142528" y="960803"/>
                  </a:cubicBezTo>
                  <a:lnTo>
                    <a:pt x="142528" y="960803"/>
                  </a:lnTo>
                  <a:cubicBezTo>
                    <a:pt x="104728" y="960803"/>
                    <a:pt x="68475" y="945787"/>
                    <a:pt x="41746" y="919057"/>
                  </a:cubicBezTo>
                  <a:cubicBezTo>
                    <a:pt x="15016" y="892328"/>
                    <a:pt x="0" y="856075"/>
                    <a:pt x="0" y="818274"/>
                  </a:cubicBezTo>
                  <a:lnTo>
                    <a:pt x="0" y="142528"/>
                  </a:lnTo>
                  <a:cubicBezTo>
                    <a:pt x="0" y="104728"/>
                    <a:pt x="15016" y="68475"/>
                    <a:pt x="41746" y="41746"/>
                  </a:cubicBezTo>
                  <a:cubicBezTo>
                    <a:pt x="68475" y="15016"/>
                    <a:pt x="104728" y="0"/>
                    <a:pt x="142528" y="0"/>
                  </a:cubicBezTo>
                  <a:close/>
                </a:path>
              </a:pathLst>
            </a:custGeom>
            <a:solidFill>
              <a:srgbClr val="A7C362"/>
            </a:solidFill>
          </p:spPr>
        </p:sp>
        <p:sp>
          <p:nvSpPr>
            <p:cNvPr name="TextBox 7" id="7"/>
            <p:cNvSpPr txBox="true"/>
            <p:nvPr/>
          </p:nvSpPr>
          <p:spPr>
            <a:xfrm>
              <a:off x="0" y="-47625"/>
              <a:ext cx="285057" cy="100842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8" id="8"/>
          <p:cNvGrpSpPr/>
          <p:nvPr/>
        </p:nvGrpSpPr>
        <p:grpSpPr>
          <a:xfrm rot="-5400000">
            <a:off x="17746837" y="5920330"/>
            <a:ext cx="1082326" cy="3648049"/>
            <a:chOff x="0" y="0"/>
            <a:chExt cx="285057" cy="960803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285057" cy="960803"/>
            </a:xfrm>
            <a:custGeom>
              <a:avLst/>
              <a:gdLst/>
              <a:ahLst/>
              <a:cxnLst/>
              <a:rect r="r" b="b" t="t" l="l"/>
              <a:pathLst>
                <a:path h="960803" w="285057">
                  <a:moveTo>
                    <a:pt x="142528" y="0"/>
                  </a:moveTo>
                  <a:lnTo>
                    <a:pt x="142528" y="0"/>
                  </a:lnTo>
                  <a:cubicBezTo>
                    <a:pt x="221245" y="0"/>
                    <a:pt x="285057" y="63812"/>
                    <a:pt x="285057" y="142528"/>
                  </a:cubicBezTo>
                  <a:lnTo>
                    <a:pt x="285057" y="818274"/>
                  </a:lnTo>
                  <a:cubicBezTo>
                    <a:pt x="285057" y="856075"/>
                    <a:pt x="270041" y="892328"/>
                    <a:pt x="243311" y="919057"/>
                  </a:cubicBezTo>
                  <a:cubicBezTo>
                    <a:pt x="216582" y="945787"/>
                    <a:pt x="180329" y="960803"/>
                    <a:pt x="142528" y="960803"/>
                  </a:cubicBezTo>
                  <a:lnTo>
                    <a:pt x="142528" y="960803"/>
                  </a:lnTo>
                  <a:cubicBezTo>
                    <a:pt x="104728" y="960803"/>
                    <a:pt x="68475" y="945787"/>
                    <a:pt x="41746" y="919057"/>
                  </a:cubicBezTo>
                  <a:cubicBezTo>
                    <a:pt x="15016" y="892328"/>
                    <a:pt x="0" y="856075"/>
                    <a:pt x="0" y="818274"/>
                  </a:cubicBezTo>
                  <a:lnTo>
                    <a:pt x="0" y="142528"/>
                  </a:lnTo>
                  <a:cubicBezTo>
                    <a:pt x="0" y="104728"/>
                    <a:pt x="15016" y="68475"/>
                    <a:pt x="41746" y="41746"/>
                  </a:cubicBezTo>
                  <a:cubicBezTo>
                    <a:pt x="68475" y="15016"/>
                    <a:pt x="104728" y="0"/>
                    <a:pt x="142528" y="0"/>
                  </a:cubicBezTo>
                  <a:close/>
                </a:path>
              </a:pathLst>
            </a:custGeom>
            <a:solidFill>
              <a:srgbClr val="A7C362"/>
            </a:solidFill>
          </p:spPr>
        </p:sp>
        <p:sp>
          <p:nvSpPr>
            <p:cNvPr name="TextBox 10" id="10"/>
            <p:cNvSpPr txBox="true"/>
            <p:nvPr/>
          </p:nvSpPr>
          <p:spPr>
            <a:xfrm>
              <a:off x="0" y="-47625"/>
              <a:ext cx="285057" cy="100842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11" id="11"/>
          <p:cNvGrpSpPr/>
          <p:nvPr/>
        </p:nvGrpSpPr>
        <p:grpSpPr>
          <a:xfrm rot="-5400000">
            <a:off x="16441775" y="7434276"/>
            <a:ext cx="1082326" cy="3648049"/>
            <a:chOff x="0" y="0"/>
            <a:chExt cx="285057" cy="960803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285057" cy="960803"/>
            </a:xfrm>
            <a:custGeom>
              <a:avLst/>
              <a:gdLst/>
              <a:ahLst/>
              <a:cxnLst/>
              <a:rect r="r" b="b" t="t" l="l"/>
              <a:pathLst>
                <a:path h="960803" w="285057">
                  <a:moveTo>
                    <a:pt x="142528" y="0"/>
                  </a:moveTo>
                  <a:lnTo>
                    <a:pt x="142528" y="0"/>
                  </a:lnTo>
                  <a:cubicBezTo>
                    <a:pt x="221245" y="0"/>
                    <a:pt x="285057" y="63812"/>
                    <a:pt x="285057" y="142528"/>
                  </a:cubicBezTo>
                  <a:lnTo>
                    <a:pt x="285057" y="818274"/>
                  </a:lnTo>
                  <a:cubicBezTo>
                    <a:pt x="285057" y="856075"/>
                    <a:pt x="270041" y="892328"/>
                    <a:pt x="243311" y="919057"/>
                  </a:cubicBezTo>
                  <a:cubicBezTo>
                    <a:pt x="216582" y="945787"/>
                    <a:pt x="180329" y="960803"/>
                    <a:pt x="142528" y="960803"/>
                  </a:cubicBezTo>
                  <a:lnTo>
                    <a:pt x="142528" y="960803"/>
                  </a:lnTo>
                  <a:cubicBezTo>
                    <a:pt x="104728" y="960803"/>
                    <a:pt x="68475" y="945787"/>
                    <a:pt x="41746" y="919057"/>
                  </a:cubicBezTo>
                  <a:cubicBezTo>
                    <a:pt x="15016" y="892328"/>
                    <a:pt x="0" y="856075"/>
                    <a:pt x="0" y="818274"/>
                  </a:cubicBezTo>
                  <a:lnTo>
                    <a:pt x="0" y="142528"/>
                  </a:lnTo>
                  <a:cubicBezTo>
                    <a:pt x="0" y="104728"/>
                    <a:pt x="15016" y="68475"/>
                    <a:pt x="41746" y="41746"/>
                  </a:cubicBezTo>
                  <a:cubicBezTo>
                    <a:pt x="68475" y="15016"/>
                    <a:pt x="104728" y="0"/>
                    <a:pt x="142528" y="0"/>
                  </a:cubicBezTo>
                  <a:close/>
                </a:path>
              </a:pathLst>
            </a:custGeom>
            <a:solidFill>
              <a:srgbClr val="A7C362"/>
            </a:solidFill>
          </p:spPr>
        </p:sp>
        <p:sp>
          <p:nvSpPr>
            <p:cNvPr name="TextBox 13" id="13"/>
            <p:cNvSpPr txBox="true"/>
            <p:nvPr/>
          </p:nvSpPr>
          <p:spPr>
            <a:xfrm>
              <a:off x="0" y="-47625"/>
              <a:ext cx="285057" cy="100842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Freeform 14" id="14"/>
          <p:cNvSpPr/>
          <p:nvPr/>
        </p:nvSpPr>
        <p:spPr>
          <a:xfrm flipH="false" flipV="false" rot="0">
            <a:off x="3129087" y="1028700"/>
            <a:ext cx="13213955" cy="8770763"/>
          </a:xfrm>
          <a:custGeom>
            <a:avLst/>
            <a:gdLst/>
            <a:ahLst/>
            <a:cxnLst/>
            <a:rect r="r" b="b" t="t" l="l"/>
            <a:pathLst>
              <a:path h="8770763" w="13213955">
                <a:moveTo>
                  <a:pt x="0" y="0"/>
                </a:moveTo>
                <a:lnTo>
                  <a:pt x="13213955" y="0"/>
                </a:lnTo>
                <a:lnTo>
                  <a:pt x="13213955" y="8770763"/>
                </a:lnTo>
                <a:lnTo>
                  <a:pt x="0" y="8770763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TextBox 15" id="15"/>
          <p:cNvSpPr txBox="true"/>
          <p:nvPr/>
        </p:nvSpPr>
        <p:spPr>
          <a:xfrm rot="0">
            <a:off x="-518962" y="266700"/>
            <a:ext cx="6222737" cy="6381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4799"/>
              </a:lnSpc>
              <a:spcBef>
                <a:spcPct val="0"/>
              </a:spcBef>
            </a:pPr>
            <a:r>
              <a:rPr lang="en-US" b="true" sz="3999">
                <a:solidFill>
                  <a:srgbClr val="08105E"/>
                </a:solidFill>
                <a:latin typeface="Poppins Bold"/>
                <a:ea typeface="Poppins Bold"/>
                <a:cs typeface="Poppins Bold"/>
                <a:sym typeface="Poppins Bold"/>
              </a:rPr>
              <a:t>Modelo de datos</a:t>
            </a:r>
          </a:p>
        </p:txBody>
      </p:sp>
    </p:spTree>
  </p:cSld>
  <p:clrMapOvr>
    <a:masterClrMapping/>
  </p:clrMapOvr>
</p:sld>
</file>

<file path=ppt/slides/slide1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2229623" y="-160457"/>
            <a:ext cx="13828754" cy="11049870"/>
          </a:xfrm>
          <a:custGeom>
            <a:avLst/>
            <a:gdLst/>
            <a:ahLst/>
            <a:cxnLst/>
            <a:rect r="r" b="b" t="t" l="l"/>
            <a:pathLst>
              <a:path h="11049870" w="13828754">
                <a:moveTo>
                  <a:pt x="0" y="0"/>
                </a:moveTo>
                <a:lnTo>
                  <a:pt x="13828754" y="0"/>
                </a:lnTo>
                <a:lnTo>
                  <a:pt x="13828754" y="11049871"/>
                </a:lnTo>
                <a:lnTo>
                  <a:pt x="0" y="11049871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2455" r="0" b="-2455"/>
            </a:stretch>
          </a:blipFill>
        </p:spPr>
      </p:sp>
    </p:spTree>
  </p:cSld>
  <p:clrMapOvr>
    <a:masterClrMapping/>
  </p:clrMapOvr>
</p:sld>
</file>

<file path=ppt/slides/slide1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3229008" y="7250009"/>
            <a:ext cx="3296867" cy="1447620"/>
          </a:xfrm>
          <a:custGeom>
            <a:avLst/>
            <a:gdLst/>
            <a:ahLst/>
            <a:cxnLst/>
            <a:rect r="r" b="b" t="t" l="l"/>
            <a:pathLst>
              <a:path h="1447620" w="3296867">
                <a:moveTo>
                  <a:pt x="0" y="0"/>
                </a:moveTo>
                <a:lnTo>
                  <a:pt x="3296867" y="0"/>
                </a:lnTo>
                <a:lnTo>
                  <a:pt x="3296867" y="1447621"/>
                </a:lnTo>
                <a:lnTo>
                  <a:pt x="0" y="1447621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5179281" y="3138479"/>
            <a:ext cx="1031641" cy="1031641"/>
          </a:xfrm>
          <a:custGeom>
            <a:avLst/>
            <a:gdLst/>
            <a:ahLst/>
            <a:cxnLst/>
            <a:rect r="r" b="b" t="t" l="l"/>
            <a:pathLst>
              <a:path h="1031641" w="1031641">
                <a:moveTo>
                  <a:pt x="0" y="0"/>
                </a:moveTo>
                <a:lnTo>
                  <a:pt x="1031641" y="0"/>
                </a:lnTo>
                <a:lnTo>
                  <a:pt x="1031641" y="1031641"/>
                </a:lnTo>
                <a:lnTo>
                  <a:pt x="0" y="1031641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13689784" y="3339409"/>
            <a:ext cx="2375316" cy="830712"/>
          </a:xfrm>
          <a:custGeom>
            <a:avLst/>
            <a:gdLst/>
            <a:ahLst/>
            <a:cxnLst/>
            <a:rect r="r" b="b" t="t" l="l"/>
            <a:pathLst>
              <a:path h="830712" w="2375316">
                <a:moveTo>
                  <a:pt x="0" y="0"/>
                </a:moveTo>
                <a:lnTo>
                  <a:pt x="2375316" y="0"/>
                </a:lnTo>
                <a:lnTo>
                  <a:pt x="2375316" y="830711"/>
                </a:lnTo>
                <a:lnTo>
                  <a:pt x="0" y="830711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11883802" y="1989887"/>
            <a:ext cx="1081291" cy="1148591"/>
          </a:xfrm>
          <a:custGeom>
            <a:avLst/>
            <a:gdLst/>
            <a:ahLst/>
            <a:cxnLst/>
            <a:rect r="r" b="b" t="t" l="l"/>
            <a:pathLst>
              <a:path h="1148591" w="1081291">
                <a:moveTo>
                  <a:pt x="0" y="0"/>
                </a:moveTo>
                <a:lnTo>
                  <a:pt x="1081291" y="0"/>
                </a:lnTo>
                <a:lnTo>
                  <a:pt x="1081291" y="1148592"/>
                </a:lnTo>
                <a:lnTo>
                  <a:pt x="0" y="1148592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3043593" y="1450054"/>
            <a:ext cx="2651509" cy="1940128"/>
          </a:xfrm>
          <a:custGeom>
            <a:avLst/>
            <a:gdLst/>
            <a:ahLst/>
            <a:cxnLst/>
            <a:rect r="r" b="b" t="t" l="l"/>
            <a:pathLst>
              <a:path h="1940128" w="2651509">
                <a:moveTo>
                  <a:pt x="0" y="0"/>
                </a:moveTo>
                <a:lnTo>
                  <a:pt x="2651509" y="0"/>
                </a:lnTo>
                <a:lnTo>
                  <a:pt x="2651509" y="1940129"/>
                </a:lnTo>
                <a:lnTo>
                  <a:pt x="0" y="1940129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2051181" y="1818365"/>
            <a:ext cx="1203508" cy="1203508"/>
          </a:xfrm>
          <a:custGeom>
            <a:avLst/>
            <a:gdLst/>
            <a:ahLst/>
            <a:cxnLst/>
            <a:rect r="r" b="b" t="t" l="l"/>
            <a:pathLst>
              <a:path h="1203508" w="1203508">
                <a:moveTo>
                  <a:pt x="0" y="0"/>
                </a:moveTo>
                <a:lnTo>
                  <a:pt x="1203508" y="0"/>
                </a:lnTo>
                <a:lnTo>
                  <a:pt x="1203508" y="1203507"/>
                </a:lnTo>
                <a:lnTo>
                  <a:pt x="0" y="1203507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0">
            <a:off x="13189137" y="1628168"/>
            <a:ext cx="4070163" cy="1115244"/>
          </a:xfrm>
          <a:custGeom>
            <a:avLst/>
            <a:gdLst/>
            <a:ahLst/>
            <a:cxnLst/>
            <a:rect r="r" b="b" t="t" l="l"/>
            <a:pathLst>
              <a:path h="1115244" w="4070163">
                <a:moveTo>
                  <a:pt x="0" y="0"/>
                </a:moveTo>
                <a:lnTo>
                  <a:pt x="4070163" y="0"/>
                </a:lnTo>
                <a:lnTo>
                  <a:pt x="4070163" y="1115244"/>
                </a:lnTo>
                <a:lnTo>
                  <a:pt x="0" y="1115244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 l="0" t="0" r="0" b="0"/>
            </a:stretch>
          </a:blipFill>
        </p:spPr>
      </p:sp>
      <p:grpSp>
        <p:nvGrpSpPr>
          <p:cNvPr name="Group 9" id="9"/>
          <p:cNvGrpSpPr/>
          <p:nvPr/>
        </p:nvGrpSpPr>
        <p:grpSpPr>
          <a:xfrm rot="0">
            <a:off x="1028700" y="6339672"/>
            <a:ext cx="7192668" cy="3150172"/>
            <a:chOff x="0" y="0"/>
            <a:chExt cx="1894365" cy="829675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1894365" cy="829675"/>
            </a:xfrm>
            <a:custGeom>
              <a:avLst/>
              <a:gdLst/>
              <a:ahLst/>
              <a:cxnLst/>
              <a:rect r="r" b="b" t="t" l="l"/>
              <a:pathLst>
                <a:path h="829675" w="1894365">
                  <a:moveTo>
                    <a:pt x="0" y="0"/>
                  </a:moveTo>
                  <a:lnTo>
                    <a:pt x="1894365" y="0"/>
                  </a:lnTo>
                  <a:lnTo>
                    <a:pt x="1894365" y="829675"/>
                  </a:lnTo>
                  <a:lnTo>
                    <a:pt x="0" y="829675"/>
                  </a:lnTo>
                  <a:close/>
                </a:path>
              </a:pathLst>
            </a:custGeom>
            <a:solidFill>
              <a:srgbClr val="A7C362"/>
            </a:solidFill>
          </p:spPr>
        </p:sp>
        <p:sp>
          <p:nvSpPr>
            <p:cNvPr name="TextBox 11" id="11"/>
            <p:cNvSpPr txBox="true"/>
            <p:nvPr/>
          </p:nvSpPr>
          <p:spPr>
            <a:xfrm>
              <a:off x="0" y="-47625"/>
              <a:ext cx="1894365" cy="8773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Freeform 12" id="12"/>
          <p:cNvSpPr/>
          <p:nvPr/>
        </p:nvSpPr>
        <p:spPr>
          <a:xfrm flipH="false" flipV="false" rot="0">
            <a:off x="1260740" y="6746038"/>
            <a:ext cx="1993949" cy="2455562"/>
          </a:xfrm>
          <a:custGeom>
            <a:avLst/>
            <a:gdLst/>
            <a:ahLst/>
            <a:cxnLst/>
            <a:rect r="r" b="b" t="t" l="l"/>
            <a:pathLst>
              <a:path h="2455562" w="1993949">
                <a:moveTo>
                  <a:pt x="0" y="0"/>
                </a:moveTo>
                <a:lnTo>
                  <a:pt x="1993949" y="0"/>
                </a:lnTo>
                <a:lnTo>
                  <a:pt x="1993949" y="2455563"/>
                </a:lnTo>
                <a:lnTo>
                  <a:pt x="0" y="2455563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>
              <a:fillRect l="0" t="0" r="0" b="0"/>
            </a:stretch>
          </a:blipFill>
        </p:spPr>
      </p:sp>
      <p:sp>
        <p:nvSpPr>
          <p:cNvPr name="Freeform 13" id="13"/>
          <p:cNvSpPr/>
          <p:nvPr/>
        </p:nvSpPr>
        <p:spPr>
          <a:xfrm flipH="false" flipV="false" rot="0">
            <a:off x="13689784" y="7626709"/>
            <a:ext cx="3149784" cy="3149784"/>
          </a:xfrm>
          <a:custGeom>
            <a:avLst/>
            <a:gdLst/>
            <a:ahLst/>
            <a:cxnLst/>
            <a:rect r="r" b="b" t="t" l="l"/>
            <a:pathLst>
              <a:path h="3149784" w="3149784">
                <a:moveTo>
                  <a:pt x="0" y="0"/>
                </a:moveTo>
                <a:lnTo>
                  <a:pt x="3149783" y="0"/>
                </a:lnTo>
                <a:lnTo>
                  <a:pt x="3149783" y="3149784"/>
                </a:lnTo>
                <a:lnTo>
                  <a:pt x="0" y="3149784"/>
                </a:lnTo>
                <a:lnTo>
                  <a:pt x="0" y="0"/>
                </a:lnTo>
                <a:close/>
              </a:path>
            </a:pathLst>
          </a:custGeom>
          <a:blipFill>
            <a:blip r:embed="rId10"/>
            <a:stretch>
              <a:fillRect l="0" t="0" r="0" b="0"/>
            </a:stretch>
          </a:blipFill>
        </p:spPr>
      </p:sp>
      <p:sp>
        <p:nvSpPr>
          <p:cNvPr name="Freeform 14" id="14"/>
          <p:cNvSpPr/>
          <p:nvPr/>
        </p:nvSpPr>
        <p:spPr>
          <a:xfrm flipH="false" flipV="false" rot="0">
            <a:off x="4544908" y="8113171"/>
            <a:ext cx="3332029" cy="1032929"/>
          </a:xfrm>
          <a:custGeom>
            <a:avLst/>
            <a:gdLst/>
            <a:ahLst/>
            <a:cxnLst/>
            <a:rect r="r" b="b" t="t" l="l"/>
            <a:pathLst>
              <a:path h="1032929" w="3332029">
                <a:moveTo>
                  <a:pt x="0" y="0"/>
                </a:moveTo>
                <a:lnTo>
                  <a:pt x="3332029" y="0"/>
                </a:lnTo>
                <a:lnTo>
                  <a:pt x="3332029" y="1032929"/>
                </a:lnTo>
                <a:lnTo>
                  <a:pt x="0" y="1032929"/>
                </a:lnTo>
                <a:lnTo>
                  <a:pt x="0" y="0"/>
                </a:lnTo>
                <a:close/>
              </a:path>
            </a:pathLst>
          </a:custGeom>
          <a:blipFill>
            <a:blip r:embed="rId11"/>
            <a:stretch>
              <a:fillRect l="0" t="0" r="0" b="0"/>
            </a:stretch>
          </a:blipFill>
        </p:spPr>
      </p:sp>
      <p:sp>
        <p:nvSpPr>
          <p:cNvPr name="Freeform 15" id="15"/>
          <p:cNvSpPr/>
          <p:nvPr/>
        </p:nvSpPr>
        <p:spPr>
          <a:xfrm flipH="false" flipV="false" rot="0">
            <a:off x="7186965" y="508928"/>
            <a:ext cx="4423720" cy="1676861"/>
          </a:xfrm>
          <a:custGeom>
            <a:avLst/>
            <a:gdLst/>
            <a:ahLst/>
            <a:cxnLst/>
            <a:rect r="r" b="b" t="t" l="l"/>
            <a:pathLst>
              <a:path h="1676861" w="4423720">
                <a:moveTo>
                  <a:pt x="0" y="0"/>
                </a:moveTo>
                <a:lnTo>
                  <a:pt x="4423720" y="0"/>
                </a:lnTo>
                <a:lnTo>
                  <a:pt x="4423720" y="1676862"/>
                </a:lnTo>
                <a:lnTo>
                  <a:pt x="0" y="1676862"/>
                </a:lnTo>
                <a:lnTo>
                  <a:pt x="0" y="0"/>
                </a:lnTo>
                <a:close/>
              </a:path>
            </a:pathLst>
          </a:custGeom>
          <a:blipFill>
            <a:blip r:embed="rId12"/>
            <a:stretch>
              <a:fillRect l="0" t="0" r="0" b="0"/>
            </a:stretch>
          </a:blipFill>
        </p:spPr>
      </p:sp>
      <p:sp>
        <p:nvSpPr>
          <p:cNvPr name="TextBox 16" id="16"/>
          <p:cNvSpPr txBox="true"/>
          <p:nvPr/>
        </p:nvSpPr>
        <p:spPr>
          <a:xfrm rot="0">
            <a:off x="6913848" y="4756150"/>
            <a:ext cx="4969954" cy="68897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599"/>
              </a:lnSpc>
              <a:spcBef>
                <a:spcPct val="0"/>
              </a:spcBef>
            </a:pPr>
            <a:r>
              <a:rPr lang="en-US" sz="3999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Tecnologías utilizadas</a:t>
            </a:r>
          </a:p>
        </p:txBody>
      </p:sp>
    </p:spTree>
  </p:cSld>
  <p:clrMapOvr>
    <a:masterClrMapping/>
  </p:clrMapOvr>
</p:sld>
</file>

<file path=ppt/slides/slide1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2921263" y="354078"/>
            <a:ext cx="12237651" cy="94362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7007"/>
              </a:lnSpc>
              <a:spcBef>
                <a:spcPct val="0"/>
              </a:spcBef>
            </a:pPr>
            <a:r>
              <a:rPr lang="en-US" b="true" sz="5839">
                <a:solidFill>
                  <a:srgbClr val="08105E"/>
                </a:solidFill>
                <a:latin typeface="Poppins Bold"/>
                <a:ea typeface="Poppins Bold"/>
                <a:cs typeface="Poppins Bold"/>
                <a:sym typeface="Poppins Bold"/>
              </a:rPr>
              <a:t>Arquitectura</a:t>
            </a:r>
          </a:p>
        </p:txBody>
      </p:sp>
      <p:grpSp>
        <p:nvGrpSpPr>
          <p:cNvPr name="Group 3" id="3"/>
          <p:cNvGrpSpPr/>
          <p:nvPr/>
        </p:nvGrpSpPr>
        <p:grpSpPr>
          <a:xfrm rot="-5400000">
            <a:off x="763899" y="-254162"/>
            <a:ext cx="1082326" cy="3648049"/>
            <a:chOff x="0" y="0"/>
            <a:chExt cx="285057" cy="960803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285057" cy="960803"/>
            </a:xfrm>
            <a:custGeom>
              <a:avLst/>
              <a:gdLst/>
              <a:ahLst/>
              <a:cxnLst/>
              <a:rect r="r" b="b" t="t" l="l"/>
              <a:pathLst>
                <a:path h="960803" w="285057">
                  <a:moveTo>
                    <a:pt x="142528" y="0"/>
                  </a:moveTo>
                  <a:lnTo>
                    <a:pt x="142528" y="0"/>
                  </a:lnTo>
                  <a:cubicBezTo>
                    <a:pt x="221245" y="0"/>
                    <a:pt x="285057" y="63812"/>
                    <a:pt x="285057" y="142528"/>
                  </a:cubicBezTo>
                  <a:lnTo>
                    <a:pt x="285057" y="818274"/>
                  </a:lnTo>
                  <a:cubicBezTo>
                    <a:pt x="285057" y="856075"/>
                    <a:pt x="270041" y="892328"/>
                    <a:pt x="243311" y="919057"/>
                  </a:cubicBezTo>
                  <a:cubicBezTo>
                    <a:pt x="216582" y="945787"/>
                    <a:pt x="180329" y="960803"/>
                    <a:pt x="142528" y="960803"/>
                  </a:cubicBezTo>
                  <a:lnTo>
                    <a:pt x="142528" y="960803"/>
                  </a:lnTo>
                  <a:cubicBezTo>
                    <a:pt x="104728" y="960803"/>
                    <a:pt x="68475" y="945787"/>
                    <a:pt x="41746" y="919057"/>
                  </a:cubicBezTo>
                  <a:cubicBezTo>
                    <a:pt x="15016" y="892328"/>
                    <a:pt x="0" y="856075"/>
                    <a:pt x="0" y="818274"/>
                  </a:cubicBezTo>
                  <a:lnTo>
                    <a:pt x="0" y="142528"/>
                  </a:lnTo>
                  <a:cubicBezTo>
                    <a:pt x="0" y="104728"/>
                    <a:pt x="15016" y="68475"/>
                    <a:pt x="41746" y="41746"/>
                  </a:cubicBezTo>
                  <a:cubicBezTo>
                    <a:pt x="68475" y="15016"/>
                    <a:pt x="104728" y="0"/>
                    <a:pt x="142528" y="0"/>
                  </a:cubicBezTo>
                  <a:close/>
                </a:path>
              </a:pathLst>
            </a:custGeom>
            <a:solidFill>
              <a:srgbClr val="A7C362"/>
            </a:solidFill>
          </p:spPr>
        </p:sp>
        <p:sp>
          <p:nvSpPr>
            <p:cNvPr name="TextBox 5" id="5"/>
            <p:cNvSpPr txBox="true"/>
            <p:nvPr/>
          </p:nvSpPr>
          <p:spPr>
            <a:xfrm>
              <a:off x="0" y="-47625"/>
              <a:ext cx="285057" cy="100842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6" id="6"/>
          <p:cNvGrpSpPr/>
          <p:nvPr/>
        </p:nvGrpSpPr>
        <p:grpSpPr>
          <a:xfrm rot="-5400000">
            <a:off x="-541163" y="1317178"/>
            <a:ext cx="1082326" cy="3648049"/>
            <a:chOff x="0" y="0"/>
            <a:chExt cx="285057" cy="960803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285057" cy="960803"/>
            </a:xfrm>
            <a:custGeom>
              <a:avLst/>
              <a:gdLst/>
              <a:ahLst/>
              <a:cxnLst/>
              <a:rect r="r" b="b" t="t" l="l"/>
              <a:pathLst>
                <a:path h="960803" w="285057">
                  <a:moveTo>
                    <a:pt x="142528" y="0"/>
                  </a:moveTo>
                  <a:lnTo>
                    <a:pt x="142528" y="0"/>
                  </a:lnTo>
                  <a:cubicBezTo>
                    <a:pt x="221245" y="0"/>
                    <a:pt x="285057" y="63812"/>
                    <a:pt x="285057" y="142528"/>
                  </a:cubicBezTo>
                  <a:lnTo>
                    <a:pt x="285057" y="818274"/>
                  </a:lnTo>
                  <a:cubicBezTo>
                    <a:pt x="285057" y="856075"/>
                    <a:pt x="270041" y="892328"/>
                    <a:pt x="243311" y="919057"/>
                  </a:cubicBezTo>
                  <a:cubicBezTo>
                    <a:pt x="216582" y="945787"/>
                    <a:pt x="180329" y="960803"/>
                    <a:pt x="142528" y="960803"/>
                  </a:cubicBezTo>
                  <a:lnTo>
                    <a:pt x="142528" y="960803"/>
                  </a:lnTo>
                  <a:cubicBezTo>
                    <a:pt x="104728" y="960803"/>
                    <a:pt x="68475" y="945787"/>
                    <a:pt x="41746" y="919057"/>
                  </a:cubicBezTo>
                  <a:cubicBezTo>
                    <a:pt x="15016" y="892328"/>
                    <a:pt x="0" y="856075"/>
                    <a:pt x="0" y="818274"/>
                  </a:cubicBezTo>
                  <a:lnTo>
                    <a:pt x="0" y="142528"/>
                  </a:lnTo>
                  <a:cubicBezTo>
                    <a:pt x="0" y="104728"/>
                    <a:pt x="15016" y="68475"/>
                    <a:pt x="41746" y="41746"/>
                  </a:cubicBezTo>
                  <a:cubicBezTo>
                    <a:pt x="68475" y="15016"/>
                    <a:pt x="104728" y="0"/>
                    <a:pt x="142528" y="0"/>
                  </a:cubicBezTo>
                  <a:close/>
                </a:path>
              </a:pathLst>
            </a:custGeom>
            <a:solidFill>
              <a:srgbClr val="A7C362"/>
            </a:solidFill>
          </p:spPr>
        </p:sp>
        <p:sp>
          <p:nvSpPr>
            <p:cNvPr name="TextBox 8" id="8"/>
            <p:cNvSpPr txBox="true"/>
            <p:nvPr/>
          </p:nvSpPr>
          <p:spPr>
            <a:xfrm>
              <a:off x="0" y="-47625"/>
              <a:ext cx="285057" cy="100842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9" id="9"/>
          <p:cNvGrpSpPr/>
          <p:nvPr/>
        </p:nvGrpSpPr>
        <p:grpSpPr>
          <a:xfrm rot="-5400000">
            <a:off x="17746837" y="5920330"/>
            <a:ext cx="1082326" cy="3648049"/>
            <a:chOff x="0" y="0"/>
            <a:chExt cx="285057" cy="960803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285057" cy="960803"/>
            </a:xfrm>
            <a:custGeom>
              <a:avLst/>
              <a:gdLst/>
              <a:ahLst/>
              <a:cxnLst/>
              <a:rect r="r" b="b" t="t" l="l"/>
              <a:pathLst>
                <a:path h="960803" w="285057">
                  <a:moveTo>
                    <a:pt x="142528" y="0"/>
                  </a:moveTo>
                  <a:lnTo>
                    <a:pt x="142528" y="0"/>
                  </a:lnTo>
                  <a:cubicBezTo>
                    <a:pt x="221245" y="0"/>
                    <a:pt x="285057" y="63812"/>
                    <a:pt x="285057" y="142528"/>
                  </a:cubicBezTo>
                  <a:lnTo>
                    <a:pt x="285057" y="818274"/>
                  </a:lnTo>
                  <a:cubicBezTo>
                    <a:pt x="285057" y="856075"/>
                    <a:pt x="270041" y="892328"/>
                    <a:pt x="243311" y="919057"/>
                  </a:cubicBezTo>
                  <a:cubicBezTo>
                    <a:pt x="216582" y="945787"/>
                    <a:pt x="180329" y="960803"/>
                    <a:pt x="142528" y="960803"/>
                  </a:cubicBezTo>
                  <a:lnTo>
                    <a:pt x="142528" y="960803"/>
                  </a:lnTo>
                  <a:cubicBezTo>
                    <a:pt x="104728" y="960803"/>
                    <a:pt x="68475" y="945787"/>
                    <a:pt x="41746" y="919057"/>
                  </a:cubicBezTo>
                  <a:cubicBezTo>
                    <a:pt x="15016" y="892328"/>
                    <a:pt x="0" y="856075"/>
                    <a:pt x="0" y="818274"/>
                  </a:cubicBezTo>
                  <a:lnTo>
                    <a:pt x="0" y="142528"/>
                  </a:lnTo>
                  <a:cubicBezTo>
                    <a:pt x="0" y="104728"/>
                    <a:pt x="15016" y="68475"/>
                    <a:pt x="41746" y="41746"/>
                  </a:cubicBezTo>
                  <a:cubicBezTo>
                    <a:pt x="68475" y="15016"/>
                    <a:pt x="104728" y="0"/>
                    <a:pt x="142528" y="0"/>
                  </a:cubicBezTo>
                  <a:close/>
                </a:path>
              </a:pathLst>
            </a:custGeom>
            <a:solidFill>
              <a:srgbClr val="A7C362"/>
            </a:solidFill>
          </p:spPr>
        </p:sp>
        <p:sp>
          <p:nvSpPr>
            <p:cNvPr name="TextBox 11" id="11"/>
            <p:cNvSpPr txBox="true"/>
            <p:nvPr/>
          </p:nvSpPr>
          <p:spPr>
            <a:xfrm>
              <a:off x="0" y="-47625"/>
              <a:ext cx="285057" cy="100842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12" id="12"/>
          <p:cNvGrpSpPr/>
          <p:nvPr/>
        </p:nvGrpSpPr>
        <p:grpSpPr>
          <a:xfrm rot="-5400000">
            <a:off x="16441775" y="7434276"/>
            <a:ext cx="1082326" cy="3648049"/>
            <a:chOff x="0" y="0"/>
            <a:chExt cx="285057" cy="960803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285057" cy="960803"/>
            </a:xfrm>
            <a:custGeom>
              <a:avLst/>
              <a:gdLst/>
              <a:ahLst/>
              <a:cxnLst/>
              <a:rect r="r" b="b" t="t" l="l"/>
              <a:pathLst>
                <a:path h="960803" w="285057">
                  <a:moveTo>
                    <a:pt x="142528" y="0"/>
                  </a:moveTo>
                  <a:lnTo>
                    <a:pt x="142528" y="0"/>
                  </a:lnTo>
                  <a:cubicBezTo>
                    <a:pt x="221245" y="0"/>
                    <a:pt x="285057" y="63812"/>
                    <a:pt x="285057" y="142528"/>
                  </a:cubicBezTo>
                  <a:lnTo>
                    <a:pt x="285057" y="818274"/>
                  </a:lnTo>
                  <a:cubicBezTo>
                    <a:pt x="285057" y="856075"/>
                    <a:pt x="270041" y="892328"/>
                    <a:pt x="243311" y="919057"/>
                  </a:cubicBezTo>
                  <a:cubicBezTo>
                    <a:pt x="216582" y="945787"/>
                    <a:pt x="180329" y="960803"/>
                    <a:pt x="142528" y="960803"/>
                  </a:cubicBezTo>
                  <a:lnTo>
                    <a:pt x="142528" y="960803"/>
                  </a:lnTo>
                  <a:cubicBezTo>
                    <a:pt x="104728" y="960803"/>
                    <a:pt x="68475" y="945787"/>
                    <a:pt x="41746" y="919057"/>
                  </a:cubicBezTo>
                  <a:cubicBezTo>
                    <a:pt x="15016" y="892328"/>
                    <a:pt x="0" y="856075"/>
                    <a:pt x="0" y="818274"/>
                  </a:cubicBezTo>
                  <a:lnTo>
                    <a:pt x="0" y="142528"/>
                  </a:lnTo>
                  <a:cubicBezTo>
                    <a:pt x="0" y="104728"/>
                    <a:pt x="15016" y="68475"/>
                    <a:pt x="41746" y="41746"/>
                  </a:cubicBezTo>
                  <a:cubicBezTo>
                    <a:pt x="68475" y="15016"/>
                    <a:pt x="104728" y="0"/>
                    <a:pt x="142528" y="0"/>
                  </a:cubicBezTo>
                  <a:close/>
                </a:path>
              </a:pathLst>
            </a:custGeom>
            <a:solidFill>
              <a:srgbClr val="A7C362"/>
            </a:solidFill>
          </p:spPr>
        </p:sp>
        <p:sp>
          <p:nvSpPr>
            <p:cNvPr name="TextBox 14" id="14"/>
            <p:cNvSpPr txBox="true"/>
            <p:nvPr/>
          </p:nvSpPr>
          <p:spPr>
            <a:xfrm>
              <a:off x="0" y="-47625"/>
              <a:ext cx="285057" cy="100842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Freeform 15" id="15"/>
          <p:cNvSpPr/>
          <p:nvPr/>
        </p:nvSpPr>
        <p:spPr>
          <a:xfrm flipH="false" flipV="false" rot="0">
            <a:off x="4481646" y="1569863"/>
            <a:ext cx="9990968" cy="8536641"/>
          </a:xfrm>
          <a:custGeom>
            <a:avLst/>
            <a:gdLst/>
            <a:ahLst/>
            <a:cxnLst/>
            <a:rect r="r" b="b" t="t" l="l"/>
            <a:pathLst>
              <a:path h="8536641" w="9990968">
                <a:moveTo>
                  <a:pt x="0" y="0"/>
                </a:moveTo>
                <a:lnTo>
                  <a:pt x="9990969" y="0"/>
                </a:lnTo>
                <a:lnTo>
                  <a:pt x="9990969" y="8536641"/>
                </a:lnTo>
                <a:lnTo>
                  <a:pt x="0" y="8536641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13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1943291" y="4886642"/>
            <a:ext cx="14401419" cy="80708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439"/>
              </a:lnSpc>
              <a:spcBef>
                <a:spcPct val="0"/>
              </a:spcBef>
            </a:pPr>
            <a:r>
              <a:rPr lang="en-US" sz="4599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DEMOSTRACIÓN DEL RESULTADO DEL PROYECTO</a:t>
            </a:r>
          </a:p>
        </p:txBody>
      </p:sp>
    </p:spTree>
  </p:cSld>
  <p:clrMapOvr>
    <a:masterClrMapping/>
  </p:clrMapOvr>
</p:sld>
</file>

<file path=ppt/slides/slide14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6641782" y="4274503"/>
            <a:ext cx="5004435" cy="156654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2880"/>
              </a:lnSpc>
            </a:pPr>
            <a:r>
              <a:rPr lang="en-US" sz="9200" b="true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GRACIAS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DAGweA5G1bY</dc:identifier>
  <dcterms:modified xsi:type="dcterms:W3CDTF">2011-08-01T06:04:30Z</dcterms:modified>
  <cp:revision>1</cp:revision>
  <dc:title>Proyecto</dc:title>
</cp:coreProperties>
</file>